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jpg" ContentType="image/jpg"/>
  <Override PartName="/ppt/neuroscope/notesMasters/notesMaster1.xml" ContentType="application/vnd.openxmlformats-officedocument.presentationml.notesMaster+xml"/>
  <Override PartName="/ppt/neuroscope/notesMasters/theme/theme3.xml" ContentType="application/vnd.openxmlformats-officedocument.theme+xml"/>
  <Override PartName="/ppt/neuroscope/notesSlides/notesSlide1.xml" ContentType="application/vnd.openxmlformats-officedocument.presentationml.notesSlide+xml"/>
  <Override PartName="/ppt/neuroscope/notesSlides/notesSlide2.xml" ContentType="application/vnd.openxmlformats-officedocument.presentationml.notesSlide+xml"/>
  <Override PartName="/ppt/neuroscope/notesSlides/notesSlide3.xml" ContentType="application/vnd.openxmlformats-officedocument.presentationml.notesSlide+xml"/>
  <Override PartName="/ppt/neuroscope/notesSlides/notesSlide4.xml" ContentType="application/vnd.openxmlformats-officedocument.presentationml.notesSlide+xml"/>
  <Override PartName="/ppt/neuroscope/notesSlides/notesSlide5.xml" ContentType="application/vnd.openxmlformats-officedocument.presentationml.notesSlide+xml"/>
  <Override PartName="/ppt/neuroscope/slides/charts/chart1.xml" ContentType="application/vnd.openxmlformats-officedocument.drawingml.chart+xml"/>
  <Override PartName="/ppt/neuroscope/slides/charts/chart2.xml" ContentType="application/vnd.openxmlformats-officedocument.drawingml.chart+xml"/>
  <Override PartName="/ppt/neuroscope/slides/charts/chart3.xml" ContentType="application/vnd.openxmlformats-officedocument.drawingml.chart+xml"/>
  <Override PartName="/ppt/neuroscope/slides/charts/chart4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>
  <p:sldMasterIdLst>
    <p:sldMasterId id="2147483648" r:id="rId1"/>
  </p:sldMasterIdLst>
  <p:notesMasterIdLst>
    <p:notesMasterId r:id="add_notesMaster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ns3:sldGuideLst>
        <ns3:guide id="1" orient="horz" pos="2880">
          <ns3:clr>
            <a:srgbClr val="A4A3A4"/>
          </ns3:clr>
        </ns3:guide>
        <ns3:guide id="2" pos="2160">
          <ns3:clr>
            <a:srgbClr val="A4A3A4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add_notesMaster" Type="http://schemas.openxmlformats.org/officeDocument/2006/relationships/notesMaster" Target="neuroscope/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euroscope/notesMasters/_rels/notesMaster1.xml.rels><?xml version='1.0' encoding='UTF-8' standalone='yes'?>
<Relationships xmlns="http://schemas.openxmlformats.org/package/2006/relationships"><Relationship Id="Rb27611adca5440e8" Type="http://schemas.openxmlformats.org/officeDocument/2006/relationships/theme" Target="theme/theme3.xml"/></Relationships>
</file>

<file path=ppt/neuroscope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euroscope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euroscope/notesSlides/_rels/notesSlide1.xml.rels><?xml version='1.0' encoding='UTF-8' standalone='yes'?>
<Relationships xmlns="http://schemas.openxmlformats.org/package/2006/relationships"><Relationship Id="Rb355a2584f434e0f" Type="http://schemas.openxmlformats.org/officeDocument/2006/relationships/slide" Target="../../slides/slide1.xml"/><Relationship Id="Rc01c64af430f4c6f" Type="http://schemas.openxmlformats.org/officeDocument/2006/relationships/notesMaster" Target="../notesMasters/notesMaster1.xml"/></Relationships>
</file>

<file path=ppt/neuroscope/notesSlides/_rels/notesSlide2.xml.rels><?xml version='1.0' encoding='UTF-8' standalone='yes'?>
<Relationships xmlns="http://schemas.openxmlformats.org/package/2006/relationships"><Relationship Id="R30b0abf9109c45ab" Type="http://schemas.openxmlformats.org/officeDocument/2006/relationships/slide" Target="../../slides/slide2.xml"/><Relationship Id="Rd80f2c5bac8d4edc" Type="http://schemas.openxmlformats.org/officeDocument/2006/relationships/notesMaster" Target="../notesMasters/notesMaster1.xml"/></Relationships>
</file>

<file path=ppt/neuroscope/notesSlides/_rels/notesSlide3.xml.rels><?xml version='1.0' encoding='UTF-8' standalone='yes'?>
<Relationships xmlns="http://schemas.openxmlformats.org/package/2006/relationships"><Relationship Id="Rdd37864f1c804381" Type="http://schemas.openxmlformats.org/officeDocument/2006/relationships/slide" Target="../../slides/slide3.xml"/><Relationship Id="Rdf70897dafce40e5" Type="http://schemas.openxmlformats.org/officeDocument/2006/relationships/notesMaster" Target="../notesMasters/notesMaster1.xml"/></Relationships>
</file>

<file path=ppt/neuroscope/notesSlides/_rels/notesSlide4.xml.rels><?xml version='1.0' encoding='UTF-8' standalone='yes'?>
<Relationships xmlns="http://schemas.openxmlformats.org/package/2006/relationships"><Relationship Id="R65a26162dda84274" Type="http://schemas.openxmlformats.org/officeDocument/2006/relationships/notesMaster" Target="../notesMasters/notesMaster1.xml"/><Relationship Id="Rdf58897e41cf4f27" Type="http://schemas.openxmlformats.org/officeDocument/2006/relationships/slide" Target="../../slides/slide4.xml"/></Relationships>
</file>

<file path=ppt/neuroscope/notesSlides/_rels/notesSlide5.xml.rels><?xml version='1.0' encoding='UTF-8' standalone='yes'?>
<Relationships xmlns="http://schemas.openxmlformats.org/package/2006/relationships"><Relationship Id="R35610479b72e46e0" Type="http://schemas.openxmlformats.org/officeDocument/2006/relationships/notesMaster" Target="../notesMasters/notesMaster1.xml"/><Relationship Id="R49840614f8664bd5" Type="http://schemas.openxmlformats.org/officeDocument/2006/relationships/slide" Target="../../slides/slide5.xml"/></Relationships>
</file>

<file path=ppt/neuroscope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Outliers: Jeevesh Bodhani, Rishit Lahoti and Shreyas Kale, DJ Sanghvi College of Engineering. Problem statement DI-02 concerns four-sequence 3D MRI tumour segmentation and web visualisation. The project joins spatial exploration to physical-volume measurement and visible uncertainty/provenance.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source snapshot: vizsh/KurukShetra at 077f0adbcf6e32697fdaf3ab4688ecb8bfc89206.</a:t>
            </a:r>
          </a:p>
          <a:p xmlns:a="http://schemas.openxmlformats.org/drawingml/2006/main">
            <a:r>
              <a:t>https://github.com/vizsh/KurukShetra/tree/077f0adbcf6e32697fdaf3ab4688ecb8bfc89206</a:t>
            </a:r>
          </a:p>
          <a:p xmlns:a="http://schemas.openxmlformats.org/drawingml/2006/main">
            <a:r>
              <a:t>Repository documentation, implementation and committed evaluation were inspected; model inference was not rerun for this presentation. Legacy context: supplied NeuroScope3D_Judges_Document.pdf, pp. 1–2, 17; supplied DI-02 problem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and teaching only. Suspected tumour regions predicted by the model; estimated volumes. Never a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euroscope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opening case has four aligned sequences of roughly 155 slices, yielding about 620 images. This is an illustrative study size, not a universal scan size. BraTS tissue codes are 1 NCR, 2 oedema, 4 ET. WT={1,2,4}, TC={1,4}, ET={4}. The shared crosshair joins 3D, axial, coronal and sagittal views, with voxel indices and world-space millimetres derived from the affine. All four MRI contrasts are available. The generated brain illustration is a conceptual communication asset only and is not medical evidence. Uncertainty is disagreement under augmentation, not calibrated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source snapshot: vizsh/KurukShetra at 077f0adbcf6e32697fdaf3ab4688ecb8bfc89206.</a:t>
            </a:r>
          </a:p>
          <a:p xmlns:a="http://schemas.openxmlformats.org/drawingml/2006/main">
            <a:r>
              <a:t>https://github.com/vizsh/KurukShetra/tree/077f0adbcf6e32697fdaf3ab4688ecb8bfc89206</a:t>
            </a:r>
          </a:p>
          <a:p xmlns:a="http://schemas.openxmlformats.org/drawingml/2006/main">
            <a:r>
              <a:t>Repository documentation, implementation and committed evaluation were inspected; model inference was not rerun for this presentation. Legacy context: supplied NeuroScope3D_Judges_Document.pdf, pp. 2–9; supplied DI-02 problem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and teaching only. Suspected tumour regions predicted by the model; estimated volumes. Never a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euroscope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editable flowchart follows the repository processing implementation. Core scan validation checks readability, dimensionality, finite values, signal variation, matching shape and affine, and brain plausibility. A FastAPI job reorients to RAS+ and resamples to a 1 mm working grid with a voxel-budget guard. The SHA-256-verified MONAI SegResNet 0.5.4 bundle runs 128-cubed sliding windows with 0.5 overlap and two flip-TTA passes. Masks map back to the original acquisition grid with nearest-neighbour interpolation; uncertainty uses linear interpolation. An absent or invalid optional expert mask produces a warning and skips agreement metrics without rejecting a valid core study. Native-grid measurements use physical spacing. The backend prepares a common binary display grid; the browser extracts SurfaceNets meshes. Exports contain original-grid BraTS labels, printable HTML and provenance JSON. Model loading or checkpoint-integrity errors are terminal failures. Raw uploads are removed after processing; documented artefact expiry is 23 hours. TTA disagreement is not a calibrated probability of correctness.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source snapshot: vizsh/KurukShetra at 077f0adbcf6e32697fdaf3ab4688ecb8bfc89206.</a:t>
            </a:r>
          </a:p>
          <a:p xmlns:a="http://schemas.openxmlformats.org/drawingml/2006/main">
            <a:r>
              <a:t>https://github.com/vizsh/KurukShetra/tree/077f0adbcf6e32697fdaf3ab4688ecb8bfc89206</a:t>
            </a:r>
          </a:p>
          <a:p xmlns:a="http://schemas.openxmlformats.org/drawingml/2006/main">
            <a:r>
              <a:t>Repository documentation, implementation and committed evaluation were inspected; model inference was not rerun for this presentation. Legacy context: supplied NeuroScope3D_Judges_Document.pdf, pp. 7–12; supplied DI-02 problem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Research and teaching only. Suspected tumour regions predicted by the model; estimated volumes. Never a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euroscope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four charts use the repository's committed 10-case evaluation and are not new measurements. Mean region Dice / sensitivity / HD95 (mm): WT 0.8808 / 0.8460 / 8.433; TC 0.8697 / 0.8505 / 5.525; ET 0.7885 / 0.7617 / 5.709. The line chart shows all 30 per-case Dice values, with case suffixes matching BRATS_206, BRATS_214, BRATS_218, BRATS_265, BRATS_306, BRATS_318, BRATS_365, BRATS_434, BRATS_449, BRATS_457. BRATS_218 ET Dice is 0.3083, showing why means alone conceal important variation. CPU runtime bins are ≤80 s, &gt;80–100 s, &gt;100–120 s and &gt;120 s, with counts 5, 4, 0, 1. Mean 83.84 s, range 76.2–120.7 s. These are CLI CPU inference/evaluation runtimes, not end-to-end browser timing; T4 is unmeasured. Patient separation avoids duplicate patients within this cohort, but checkpoint pretraining overlap cannot be ruled out. No fine-tuning was used. Verification table outcomes are documented pipeline integrity checks, separate from real-case segmentation accuracy. The 8-interface count is a UI catalogue, not eight validated services. Workflow benefits describe implemented capabilities, not measured clinical benefit.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source snapshot: vizsh/KurukShetra at 077f0adbcf6e32697fdaf3ab4688ecb8bfc89206.</a:t>
            </a:r>
          </a:p>
          <a:p xmlns:a="http://schemas.openxmlformats.org/drawingml/2006/main">
            <a:r>
              <a:t>https://github.com/vizsh/KurukShetra/tree/077f0adbcf6e32697fdaf3ab4688ecb8bfc89206</a:t>
            </a:r>
          </a:p>
          <a:p xmlns:a="http://schemas.openxmlformats.org/drawingml/2006/main">
            <a:r>
              <a:t>Repository documentation, implementation and committed evaluation were inspected; model inference was not rerun for this presentation. Legacy context: supplied NeuroScope3D_Judges_Document.pdf, pp. 2, 8, 13–15; supplied DI-02 problem statement.</a:t>
            </a:r>
          </a:p>
          <a:p xmlns:a="http://schemas.openxmlformats.org/drawingml/2006/main">
            <a:r>
              <a:t>https://github.com/vizsh/KurukShetra/blob/077f0adbcf6e32697fdaf3ab4688ecb8bfc89206/backend/data/real_sample_eval.json</a:t>
            </a:r>
          </a:p>
          <a:p xmlns:a="http://schemas.openxmlformats.org/drawingml/2006/main">
            <a:r>
              <a:t>https://github.com/vizsh/KurukShetra/blob/077f0adbcf6e32697fdaf3ab4688ecb8bfc89206/docs/VERIFICATION.md</a:t>
            </a:r>
          </a:p>
          <a:p xmlns:a="http://schemas.openxmlformats.org/drawingml/2006/main">
            <a:r>
              <a:t>Research and teaching only. Suspected tumour regions predicted by the model; estimated volumes. Never a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euroscope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latest repository now contains 10-case evaluation, HD95, spatial agreement overlays, largest-miss navigation, two-point measurement, window/contrast controls and itemised quality inspection. Those are no longer presented as future work. The sidebar declares eight interfaces: Command Centre, 3D Studio Viewer, Segmentation Review, Research Lab, Trust &amp; Explainability, Patient Companion, NeuroLearn Academy and Research Graph. The catalogue describes available interfaces, not eight independently clinically validated services. Some interface content is static/demonstration material, including example calibration points and educational timelines; the deck does not use those interface numbers as measured evaluation. The committed evaluation JSON is the quantitative source. Remaining evidence needs include broader independent cases, pretraining-overlap resolution, organiser T4 timing, uncertainty/error calibration, multi-model comparison and real-world input-sanity validation. Atlas localisation, longitudinal/ROI/ablation extensions and DICOM are roadmap items. Local-only processing, immediate raw-upload cleanup and 23-hour artefact expiry remain documented controls. Dataset counts and licences come from the original problem statement.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Current source snapshot: vizsh/KurukShetra at 077f0adbcf6e32697fdaf3ab4688ecb8bfc89206.</a:t>
            </a:r>
          </a:p>
          <a:p xmlns:a="http://schemas.openxmlformats.org/drawingml/2006/main">
            <a:r>
              <a:t>https://github.com/vizsh/KurukShetra/tree/077f0adbcf6e32697fdaf3ab4688ecb8bfc89206</a:t>
            </a:r>
          </a:p>
          <a:p xmlns:a="http://schemas.openxmlformats.org/drawingml/2006/main">
            <a:r>
              <a:t>Repository documentation, implementation and committed evaluation were inspected; model inference was not rerun for this presentation. Legacy context: supplied NeuroScope3D_Judges_Document.pdf, pp. 7–17; supplied DI-02 problem statement.</a:t>
            </a:r>
          </a:p>
          <a:p xmlns:a="http://schemas.openxmlformats.org/drawingml/2006/main">
            <a:r>
              <a:t>https://github.com/vizsh/KurukShetra/blob/077f0adbcf6e32697fdaf3ab4688ecb8bfc89206/docs/FEATURES.md</a:t>
            </a:r>
          </a:p>
          <a:p xmlns:a="http://schemas.openxmlformats.org/drawingml/2006/main">
            <a:r>
              <a:t>https://github.com/vizsh/KurukShetra/blob/077f0adbcf6e32697fdaf3ab4688ecb8bfc89206/src/components/NavigationSidebar.tsx</a:t>
            </a:r>
          </a:p>
          <a:p xmlns:a="http://schemas.openxmlformats.org/drawingml/2006/main">
            <a:r>
              <a:t>https://doi.org/10.7937/jc8x-9874</a:t>
            </a:r>
          </a:p>
          <a:p xmlns:a="http://schemas.openxmlformats.org/drawingml/2006/main">
            <a:r>
              <a:t>Research and teaching only. Suspected tumour regions predicted by the model; estimated volumes. Never a diagnosis.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euroscope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../embeddings/chart-data-snapshot-001.xlsx"/></Relationships>
</file>

<file path=ppt/neuroscope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../embeddings/chart-data-snapshot-002.xlsx"/></Relationships>
</file>

<file path=ppt/neuroscope/slides/charts/_rels/chart3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../embeddings/chart-data-snapshot-003.xlsx"/></Relationships>
</file>

<file path=ppt/neuroscope/slides/charts/_rels/chart4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../embeddings/chart-data-snapshot-004.xlsx"/></Relationships>
</file>

<file path=ppt/neuroscope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Dice</c:v>
          </c:tx>
          <c:spPr>
            <a:solidFill xmlns:a="http://schemas.openxmlformats.org/drawingml/2006/main">
              <a:srgbClr val="286F65"/>
            </a:solidFill>
          </c:spPr>
          <c:cat>
            <c:strRef>
              <c:f>'Chart Data'!$A$2:$A$4</c:f>
              <c:strCache>
                <c:ptCount val="3"/>
                <c:pt idx="0">
                  <c:v>WT</c:v>
                </c:pt>
                <c:pt idx="1">
                  <c:v>TC</c:v>
                </c:pt>
                <c:pt idx="2">
                  <c:v>ET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0.8808</c:v>
                </c:pt>
                <c:pt idx="1">
                  <c:v>0.8697</c:v>
                </c:pt>
                <c:pt idx="2">
                  <c:v>0.7885</c:v>
                </c:pt>
              </c:numCache>
            </c:numRef>
          </c:val>
        </c:ser>
        <c:ser>
          <c:idx val="1"/>
          <c:order val="1"/>
          <c:tx>
            <c:v>Sensitivity</c:v>
          </c:tx>
          <c:spPr>
            <a:solidFill xmlns:a="http://schemas.openxmlformats.org/drawingml/2006/main">
              <a:srgbClr val="A96D18"/>
            </a:solidFill>
          </c:spPr>
          <c:cat>
            <c:strRef>
              <c:f>'Chart Data'!$C$2:$C$4</c:f>
              <c:strCache>
                <c:ptCount val="3"/>
                <c:pt idx="0">
                  <c:v>WT</c:v>
                </c:pt>
                <c:pt idx="1">
                  <c:v>TC</c:v>
                </c:pt>
                <c:pt idx="2">
                  <c:v>ET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0.846</c:v>
                </c:pt>
                <c:pt idx="1">
                  <c:v>0.8505</c:v>
                </c:pt>
                <c:pt idx="2">
                  <c:v>0.7617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30190F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9A778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30190F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neuroscope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varyColors val="0"/>
        <c:ser>
          <c:idx val="0"/>
          <c:order val="0"/>
          <c:tx>
            <c:v>Mean HD95 in millimetres</c:v>
          </c:tx>
          <c:dPt>
            <c:idx val="0"/>
            <c:invertIfNegative val="0"/>
            <c:spPr>
              <a:solidFill xmlns:a="http://schemas.openxmlformats.org/drawingml/2006/main">
                <a:srgbClr val="286F65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A96720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A74235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WT</c:v>
                </c:pt>
                <c:pt idx="1">
                  <c:v>TC</c:v>
                </c:pt>
                <c:pt idx="2">
                  <c:v>ET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8.433</c:v>
                </c:pt>
                <c:pt idx="1">
                  <c:v>5.525</c:v>
                </c:pt>
                <c:pt idx="2">
                  <c:v>5.709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 b="1">
                  <a:solidFill>
                    <a:srgbClr val="6C2019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4763">
              <a:solidFill>
                <a:srgbClr val="C9A77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neuroscope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WT</c:v>
          </c:tx>
          <c:spPr>
            <a:ln xmlns:a="http://schemas.openxmlformats.org/drawingml/2006/main" w="21908">
              <a:solidFill>
                <a:srgbClr val="286F6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286F65"/>
              </a:solidFill>
            </c:spPr>
          </c:marker>
          <c:cat>
            <c:numRef>
              <c:f>'Chart Data'!$A$2:$A$11</c:f>
              <c:numCache>
                <c:formatCode>General</c:formatCode>
                <c:ptCount val="10"/>
                <c:pt idx="0">
                  <c:v>206</c:v>
                </c:pt>
                <c:pt idx="1">
                  <c:v>214</c:v>
                </c:pt>
                <c:pt idx="2">
                  <c:v>218</c:v>
                </c:pt>
                <c:pt idx="3">
                  <c:v>265</c:v>
                </c:pt>
                <c:pt idx="4">
                  <c:v>306</c:v>
                </c:pt>
                <c:pt idx="5">
                  <c:v>318</c:v>
                </c:pt>
                <c:pt idx="6">
                  <c:v>365</c:v>
                </c:pt>
                <c:pt idx="7">
                  <c:v>434</c:v>
                </c:pt>
                <c:pt idx="8">
                  <c:v>449</c:v>
                </c:pt>
                <c:pt idx="9">
                  <c:v>457</c:v>
                </c:pt>
              </c:numCache>
            </c:numRef>
          </c:cat>
          <c:val>
            <c:numRef>
              <c:f>'Chart Data'!$B$2:$B$11</c:f>
              <c:numCache>
                <c:formatCode>0.0</c:formatCode>
                <c:ptCount val="10"/>
                <c:pt idx="0">
                  <c:v>0.8801</c:v>
                </c:pt>
                <c:pt idx="1">
                  <c:v>0.6469</c:v>
                </c:pt>
                <c:pt idx="2">
                  <c:v>0.939</c:v>
                </c:pt>
                <c:pt idx="3">
                  <c:v>0.9479</c:v>
                </c:pt>
                <c:pt idx="4">
                  <c:v>0.8542</c:v>
                </c:pt>
                <c:pt idx="5">
                  <c:v>0.8702</c:v>
                </c:pt>
                <c:pt idx="6">
                  <c:v>0.9118</c:v>
                </c:pt>
                <c:pt idx="7">
                  <c:v>0.8866</c:v>
                </c:pt>
                <c:pt idx="8">
                  <c:v>0.9574</c:v>
                </c:pt>
                <c:pt idx="9">
                  <c:v>0.9135</c:v>
                </c:pt>
              </c:numCache>
            </c:numRef>
          </c:val>
          <c:smooth val="0"/>
        </c:ser>
        <c:ser>
          <c:idx val="1"/>
          <c:order val="1"/>
          <c:tx>
            <c:v>TC</c:v>
          </c:tx>
          <c:spPr>
            <a:ln xmlns:a="http://schemas.openxmlformats.org/drawingml/2006/main" w="21908">
              <a:solidFill>
                <a:srgbClr val="A96720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A96720"/>
              </a:solidFill>
            </c:spPr>
          </c:marker>
          <c:cat>
            <c:numRef>
              <c:f>'Chart Data'!$C$2:$C$11</c:f>
              <c:numCache>
                <c:formatCode>General</c:formatCode>
                <c:ptCount val="10"/>
                <c:pt idx="0">
                  <c:v>206</c:v>
                </c:pt>
                <c:pt idx="1">
                  <c:v>214</c:v>
                </c:pt>
                <c:pt idx="2">
                  <c:v>218</c:v>
                </c:pt>
                <c:pt idx="3">
                  <c:v>265</c:v>
                </c:pt>
                <c:pt idx="4">
                  <c:v>306</c:v>
                </c:pt>
                <c:pt idx="5">
                  <c:v>318</c:v>
                </c:pt>
                <c:pt idx="6">
                  <c:v>365</c:v>
                </c:pt>
                <c:pt idx="7">
                  <c:v>434</c:v>
                </c:pt>
                <c:pt idx="8">
                  <c:v>449</c:v>
                </c:pt>
                <c:pt idx="9">
                  <c:v>457</c:v>
                </c:pt>
              </c:numCache>
            </c:numRef>
          </c:cat>
          <c:val>
            <c:numRef>
              <c:f>'Chart Data'!$D$2:$D$11</c:f>
              <c:numCache>
                <c:formatCode>0.0</c:formatCode>
                <c:ptCount val="10"/>
                <c:pt idx="0">
                  <c:v>0.9125</c:v>
                </c:pt>
                <c:pt idx="1">
                  <c:v>0.7912</c:v>
                </c:pt>
                <c:pt idx="2">
                  <c:v>0.8772</c:v>
                </c:pt>
                <c:pt idx="3">
                  <c:v>0.9556</c:v>
                </c:pt>
                <c:pt idx="4">
                  <c:v>0.9227</c:v>
                </c:pt>
                <c:pt idx="5">
                  <c:v>0.884</c:v>
                </c:pt>
                <c:pt idx="6">
                  <c:v>0.7163</c:v>
                </c:pt>
                <c:pt idx="7">
                  <c:v>0.8767</c:v>
                </c:pt>
                <c:pt idx="8">
                  <c:v>0.9321</c:v>
                </c:pt>
                <c:pt idx="9">
                  <c:v>0.8283</c:v>
                </c:pt>
              </c:numCache>
            </c:numRef>
          </c:val>
          <c:smooth val="0"/>
        </c:ser>
        <c:ser>
          <c:idx val="2"/>
          <c:order val="2"/>
          <c:tx>
            <c:v>ET</c:v>
          </c:tx>
          <c:spPr>
            <a:ln xmlns:a="http://schemas.openxmlformats.org/drawingml/2006/main" w="21908">
              <a:solidFill>
                <a:srgbClr val="A74235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A74235"/>
              </a:solidFill>
            </c:spPr>
          </c:marker>
          <c:cat>
            <c:numRef>
              <c:f>'Chart Data'!$E$2:$E$11</c:f>
              <c:numCache>
                <c:formatCode>General</c:formatCode>
                <c:ptCount val="10"/>
                <c:pt idx="0">
                  <c:v>206</c:v>
                </c:pt>
                <c:pt idx="1">
                  <c:v>214</c:v>
                </c:pt>
                <c:pt idx="2">
                  <c:v>218</c:v>
                </c:pt>
                <c:pt idx="3">
                  <c:v>265</c:v>
                </c:pt>
                <c:pt idx="4">
                  <c:v>306</c:v>
                </c:pt>
                <c:pt idx="5">
                  <c:v>318</c:v>
                </c:pt>
                <c:pt idx="6">
                  <c:v>365</c:v>
                </c:pt>
                <c:pt idx="7">
                  <c:v>434</c:v>
                </c:pt>
                <c:pt idx="8">
                  <c:v>449</c:v>
                </c:pt>
                <c:pt idx="9">
                  <c:v>457</c:v>
                </c:pt>
              </c:numCache>
            </c:numRef>
          </c:cat>
          <c:val>
            <c:numRef>
              <c:f>'Chart Data'!$F$2:$F$11</c:f>
              <c:numCache>
                <c:formatCode>0.0</c:formatCode>
                <c:ptCount val="10"/>
                <c:pt idx="0">
                  <c:v>0.8951</c:v>
                </c:pt>
                <c:pt idx="1">
                  <c:v>0.7294</c:v>
                </c:pt>
                <c:pt idx="2">
                  <c:v>0.3083</c:v>
                </c:pt>
                <c:pt idx="3">
                  <c:v>0.9353</c:v>
                </c:pt>
                <c:pt idx="4">
                  <c:v>0.8242</c:v>
                </c:pt>
                <c:pt idx="5">
                  <c:v>0.8291</c:v>
                </c:pt>
                <c:pt idx="6">
                  <c:v>0.8035</c:v>
                </c:pt>
                <c:pt idx="7">
                  <c:v>0.8785</c:v>
                </c:pt>
                <c:pt idx="8">
                  <c:v>0.8679</c:v>
                </c:pt>
                <c:pt idx="9">
                  <c:v>0.8141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Calibri"/>
                  <a:ea typeface="Calibri"/>
                  <a:cs typeface="Calibr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9A778"/>
              </a:solidFill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350">
              <a:solidFill>
                <a:srgbClr val="30190F"/>
              </a:solidFill>
              <a:latin typeface="Calibri"/>
              <a:ea typeface="Calibri"/>
              <a:cs typeface="Calibri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neuroscope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varyColors val="0"/>
        <c:ser>
          <c:idx val="0"/>
          <c:order val="0"/>
          <c:tx>
            <c:v>Number of cases</c:v>
          </c:tx>
          <c:spPr>
            <a:solidFill xmlns:a="http://schemas.openxmlformats.org/drawingml/2006/main">
              <a:srgbClr val="6C2019"/>
            </a:solidFill>
          </c:spPr>
          <c:cat>
            <c:strRef>
              <c:f>'Chart Data'!$A$2:$A$5</c:f>
              <c:strCache>
                <c:ptCount val="4"/>
                <c:pt idx="0">
                  <c:v>≤80 s</c:v>
                </c:pt>
                <c:pt idx="1">
                  <c:v>&gt;80–100 s</c:v>
                </c:pt>
                <c:pt idx="2">
                  <c:v>&gt;100–120 s</c:v>
                </c:pt>
                <c:pt idx="3">
                  <c:v>&gt;120 s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5</c:v>
                </c:pt>
                <c:pt idx="1">
                  <c:v>4</c:v>
                </c:pt>
                <c:pt idx="2">
                  <c:v>0</c:v>
                </c:pt>
                <c:pt idx="3">
                  <c:v>1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6C2019"/>
                  </a:solidFill>
                  <a:latin typeface="Calibri"/>
                  <a:ea typeface="Calibri"/>
                  <a:cs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</a:p>
        </c:txPr>
        <c:crossAx val="48672768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xmlns:a="http://schemas.openxmlformats.org/drawingml/2006/main" w="4763">
              <a:solidFill>
                <a:srgbClr val="C9A778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8000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4885470" y="5017013"/>
            <a:ext cx="8515985" cy="38100"/>
          </a:xfrm>
          <a:custGeom>
            <a:avLst/>
            <a:gdLst/>
            <a:ahLst/>
            <a:cxnLst/>
            <a:rect l="l" t="t" r="r" b="b"/>
            <a:pathLst>
              <a:path w="8515985" h="38100">
                <a:moveTo>
                  <a:pt x="8515479" y="19102"/>
                </a:moveTo>
                <a:lnTo>
                  <a:pt x="4103556" y="37955"/>
                </a:lnTo>
                <a:lnTo>
                  <a:pt x="0" y="19112"/>
                </a:lnTo>
                <a:lnTo>
                  <a:pt x="4513018" y="0"/>
                </a:lnTo>
                <a:lnTo>
                  <a:pt x="8515479" y="19102"/>
                </a:lnTo>
                <a:close/>
              </a:path>
            </a:pathLst>
          </a:custGeom>
          <a:solidFill>
            <a:srgbClr val="FFC1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493745" y="2944629"/>
            <a:ext cx="7300415" cy="294640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3745" y="8338565"/>
            <a:ext cx="7300415" cy="29464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842934" y="416997"/>
            <a:ext cx="6943725" cy="5607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2366010"/>
            <a:ext cx="1645920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add_R44d064b95e454119" Type="http://schemas.openxmlformats.org/officeDocument/2006/relationships/notesSlide" Target="../neuroscope/notesSlides/notesSlide1.xml"/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add_Rc319c91ca670484b" Type="http://schemas.openxmlformats.org/officeDocument/2006/relationships/notesSlide" Target="../neuroscope/notesSlides/notesSlide2.xml"/><Relationship Id="add_Rc4e7dc2775514dcb" Type="http://schemas.openxmlformats.org/officeDocument/2006/relationships/image" Target="../neuroscope/media/image10.png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add_R5df03de5753c4a51" Type="http://schemas.openxmlformats.org/officeDocument/2006/relationships/notesSlide" Target="../neuroscope/notesSlides/notesSlide3.xml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8.png"/><Relationship Id="rId8" Type="http://schemas.openxmlformats.org/officeDocument/2006/relationships/image" Target="../media/image17.jpg"/></Relationships>
</file>

<file path=ppt/slides/_rels/slide4.xml.rels><?xml version='1.0' encoding='UTF-8' standalone='yes'?>
<Relationships xmlns="http://schemas.openxmlformats.org/package/2006/relationships"><Relationship Id="add_R378ad2d36f874c12" Type="http://schemas.openxmlformats.org/officeDocument/2006/relationships/chart" Target="../neuroscope/slides/charts/chart3.xml"/><Relationship Id="add_R400f21a8f82e4ffe" Type="http://schemas.openxmlformats.org/officeDocument/2006/relationships/notesSlide" Target="../neuroscope/notesSlides/notesSlide4.xml"/><Relationship Id="add_R853f8db80a1b460e" Type="http://schemas.openxmlformats.org/officeDocument/2006/relationships/chart" Target="../neuroscope/slides/charts/chart1.xml"/><Relationship Id="add_Rc780170dfa28406b" Type="http://schemas.openxmlformats.org/officeDocument/2006/relationships/chart" Target="../neuroscope/slides/charts/chart4.xml"/><Relationship Id="add_Rddc17d1faf224f6e" Type="http://schemas.openxmlformats.org/officeDocument/2006/relationships/chart" Target="../neuroscope/slides/charts/chart2.xml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8.png"/><Relationship Id="rId12" Type="http://schemas.openxmlformats.org/officeDocument/2006/relationships/image" Target="../media/image18.jpg"/></Relationships>
</file>

<file path=ppt/slides/_rels/slide5.xml.rels><?xml version='1.0' encoding='UTF-8' standalone='yes'?>
<Relationships xmlns="http://schemas.openxmlformats.org/package/2006/relationships"><Relationship Id="add_R262cdc34db274503" Type="http://schemas.openxmlformats.org/officeDocument/2006/relationships/notesSlide" Target="../neuroscope/notesSlides/notesSlide5.xml"/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0.png"/><Relationship Id="rId6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ns2="http://schemas.microsoft.com/office/drawing/2014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99616" y="2400676"/>
            <a:ext cx="5288915" cy="3028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00" dirty="0">
                <a:latin typeface="Century"/>
                <a:cs typeface="Century"/>
              </a:rPr>
              <a:t>THE</a:t>
            </a:r>
            <a:r>
              <a:rPr sz="1800" spc="-10" dirty="0">
                <a:latin typeface="Century"/>
                <a:cs typeface="Century"/>
              </a:rPr>
              <a:t> </a:t>
            </a:r>
            <a:r>
              <a:rPr sz="1800" dirty="0">
                <a:latin typeface="Century"/>
                <a:cs typeface="Century"/>
              </a:rPr>
              <a:t>BATTLE</a:t>
            </a:r>
            <a:r>
              <a:rPr sz="1800" spc="-10" dirty="0">
                <a:latin typeface="Century"/>
                <a:cs typeface="Century"/>
              </a:rPr>
              <a:t> </a:t>
            </a:r>
            <a:r>
              <a:rPr sz="1800" dirty="0">
                <a:latin typeface="Century"/>
                <a:cs typeface="Century"/>
              </a:rPr>
              <a:t>WITH</a:t>
            </a:r>
            <a:r>
              <a:rPr sz="1800" spc="-10" dirty="0">
                <a:latin typeface="Century"/>
                <a:cs typeface="Century"/>
              </a:rPr>
              <a:t> INFINITE POSSIBILITIES</a:t>
            </a:r>
            <a:endParaRPr sz="1800">
              <a:latin typeface="Century"/>
              <a:cs typeface="Century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3352800" y="3066686"/>
            <a:ext cx="12315103" cy="1414780"/>
          </a:xfrm>
          <a:prstGeom prst="rect">
            <a:avLst/>
          </a:prstGeom>
        </p:spPr>
        <p:txBody>
          <a:bodyPr vert="horz" wrap="square" lIns="0" tIns="1270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buNone/>
            </a:pPr>
            <a:r>
              <a:rPr sz="9200" spc="1430">
                <a:solidFill>
                  <a:srgbClr val="732017"/>
                </a:solidFill>
                <a:latin typeface="Baskerville Old Face"/>
                <a:ea typeface="Baskerville Old Face"/>
                <a:cs typeface="Baskerville Old Face"/>
              </a:rPr>
              <a:t/>
            </a:r>
            <a:endParaRPr sz="9200">
              <a:latin typeface="Baskerville Old Face"/>
              <a:ea typeface="Baskerville Old Face"/>
              <a:cs typeface="Baskerville Old Face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567482" y="4414950"/>
            <a:ext cx="5153025" cy="289560"/>
          </a:xfrm>
          <a:prstGeom prst="rect">
            <a:avLst/>
          </a:prstGeom>
        </p:spPr>
        <p:txBody>
          <a:bodyPr vert="horz" wrap="square" lIns="0" tIns="1524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buNone/>
            </a:pPr>
            <a:r>
              <a:rPr sz="1800" spc="-10">
                <a:latin typeface="Century"/>
                <a:ea typeface="Century"/>
                <a:cs typeface="Century"/>
              </a:rPr>
              <a:t/>
            </a:r>
            <a:endParaRPr sz="1800">
              <a:latin typeface="Century"/>
              <a:ea typeface="Century"/>
              <a:cs typeface="Century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78278" y="5701648"/>
            <a:ext cx="2016125" cy="387350"/>
          </a:xfrm>
          <a:prstGeom prst="rect">
            <a:avLst/>
          </a:prstGeom>
        </p:spPr>
        <p:txBody>
          <a:bodyPr vert="horz" wrap="square" lIns="0" tIns="1397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2450" b="1" spc="-40">
                <a:solidFill>
                  <a:srgbClr val="732017"/>
                </a:solidFill>
                <a:latin typeface="Book Antiqua"/>
                <a:ea typeface="Book Antiqua"/>
                <a:cs typeface="Book Antiqua"/>
              </a:rPr>
              <a:t/>
            </a:r>
            <a:endParaRPr sz="2450">
              <a:latin typeface="Book Antiqua"/>
              <a:ea typeface="Book Antiqua"/>
              <a:cs typeface="Book Antiqu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24889" y="5701648"/>
            <a:ext cx="2638425" cy="387350"/>
          </a:xfrm>
          <a:prstGeom prst="rect">
            <a:avLst/>
          </a:prstGeom>
        </p:spPr>
        <p:txBody>
          <a:bodyPr vert="horz" wrap="square" lIns="0" tIns="1397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2450" b="1" spc="-40">
                <a:solidFill>
                  <a:srgbClr val="732017"/>
                </a:solidFill>
                <a:latin typeface="Book Antiqua"/>
                <a:ea typeface="Book Antiqua"/>
                <a:cs typeface="Book Antiqua"/>
              </a:rPr>
              <a:t/>
            </a:r>
            <a:endParaRPr sz="2450">
              <a:latin typeface="Book Antiqua"/>
              <a:ea typeface="Book Antiqua"/>
              <a:cs typeface="Book Antiqu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308863" y="5701648"/>
            <a:ext cx="2249805" cy="387350"/>
          </a:xfrm>
          <a:prstGeom prst="rect">
            <a:avLst/>
          </a:prstGeom>
        </p:spPr>
        <p:txBody>
          <a:bodyPr vert="horz" wrap="square" lIns="0" tIns="13970" rIns="0" bIns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buNone/>
            </a:pPr>
            <a:r>
              <a:rPr sz="2450" b="1" spc="-10">
                <a:solidFill>
                  <a:srgbClr val="732017"/>
                </a:solidFill>
                <a:latin typeface="Book Antiqua"/>
                <a:ea typeface="Book Antiqua"/>
                <a:cs typeface="Book Antiqua"/>
              </a:rPr>
              <a:t/>
            </a:r>
            <a:endParaRPr sz="2450">
              <a:latin typeface="Book Antiqua"/>
              <a:ea typeface="Book Antiqua"/>
              <a:cs typeface="Book Antiqua"/>
            </a:endParaRPr>
          </a:p>
        </p:txBody>
      </p:sp>
      <p:sp>
        <p:nvSpPr>
          <p:cNvPr id="8" name="content-1">
            <a:extLst>
              <a:ext uri="{FF2B5EF4-FFF2-40B4-BE49-F238E27FC236}">
                <ns2:creationId id="{DADD4F95-9E48-462F-928C-AFE0DBEE8F57}"/>
              </a:ext>
            </a:extLst>
          </p:cNvPr>
          <p:cNvSpPr>
            <a:spLocks noGrp="1"/>
          </p:cNvSpPr>
          <p:nvPr/>
        </p:nvSpPr>
        <p:spPr>
          <a:xfrm>
            <a:off x="1619250" y="3048000"/>
            <a:ext cx="150495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7650" b="1">
                <a:solidFill>
                  <a:srgbClr val="6C2019"/>
                </a:solidFill>
                <a:latin typeface="Baskerville Old Face"/>
                <a:ea typeface="Baskerville Old Face"/>
                <a:cs typeface="Baskerville Old Face"/>
              </a:defRPr>
            </a:defPPr>
          </a:lstStyle>
          <a:p>
            <a:pPr algn="ctr">
              <a:defRPr sz="7650" b="1">
                <a:solidFill>
                  <a:srgbClr val="6C2019"/>
                </a:solidFill>
                <a:latin typeface="Baskerville Old Face"/>
                <a:ea typeface="Baskerville Old Face"/>
                <a:cs typeface="Baskerville Old Face"/>
              </a:defRPr>
            </a:pPr>
            <a:r>
              <a:rPr sz="7650" b="1">
                <a:solidFill>
                  <a:srgbClr val="6C2019"/>
                </a:solidFill>
                <a:latin typeface="Baskerville Old Face"/>
                <a:ea typeface="Baskerville Old Face"/>
                <a:cs typeface="Baskerville Old Face"/>
              </a:rPr>
              <a:t>NeuroScope 3D</a:t>
            </a:r>
          </a:p>
        </p:txBody>
      </p:sp>
      <p:sp>
        <p:nvSpPr>
          <p:cNvPr id="9" name="content-diagram-2">
            <a:extLst>
              <a:ext uri="{FF2B5EF4-FFF2-40B4-BE49-F238E27FC236}">
                <ns2:creationId id="{D8113925-CF5B-454B-A7C0-AA4404E4485F}"/>
              </a:ext>
            </a:extLst>
          </p:cNvPr>
          <p:cNvSpPr>
            <a:spLocks noGrp="1"/>
          </p:cNvSpPr>
          <p:nvPr/>
        </p:nvSpPr>
        <p:spPr>
          <a:xfrm>
            <a:off x="1619250" y="4238625"/>
            <a:ext cx="15049500" cy="438150"/>
          </a:xfrm>
          <a:prstGeom prst="rect">
            <a:avLst/>
          </a:prstGeom>
          <a:solidFill>
            <a:srgbClr val="6C2019"/>
          </a:solidFill>
          <a:ln w="0">
            <a:noFill/>
          </a:ln>
        </p:spPr>
      </p:sp>
      <p:sp>
        <p:nvSpPr>
          <p:cNvPr id="10" name="content-3">
            <a:extLst>
              <a:ext uri="{FF2B5EF4-FFF2-40B4-BE49-F238E27FC236}">
                <ns2:creationId id="{9A6133ED-36DA-4E7D-B4CA-0187A212FA72}"/>
              </a:ext>
            </a:extLst>
          </p:cNvPr>
          <p:cNvSpPr>
            <a:spLocks noGrp="1"/>
          </p:cNvSpPr>
          <p:nvPr/>
        </p:nvSpPr>
        <p:spPr>
          <a:xfrm>
            <a:off x="1809750" y="4305300"/>
            <a:ext cx="14668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025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2025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pPr>
            <a:r>
              <a:rPr sz="2025" b="1">
                <a:solidFill>
                  <a:srgbClr val="FFF7E9"/>
                </a:solidFill>
                <a:latin typeface="Calibri"/>
                <a:ea typeface="Calibri"/>
                <a:cs typeface="Calibri"/>
              </a:rPr>
              <a:t>PROBLEM STATEMENT DI-02  ·  HEALTH-TECH</a:t>
            </a:r>
          </a:p>
        </p:txBody>
      </p:sp>
      <p:sp>
        <p:nvSpPr>
          <p:cNvPr id="11" name="content-4">
            <a:extLst>
              <a:ext uri="{FF2B5EF4-FFF2-40B4-BE49-F238E27FC236}">
                <ns2:creationId id="{BA043CF3-05F0-49A9-91C8-7D3F4A926629}"/>
              </a:ext>
            </a:extLst>
          </p:cNvPr>
          <p:cNvSpPr>
            <a:spLocks noGrp="1"/>
          </p:cNvSpPr>
          <p:nvPr/>
        </p:nvSpPr>
        <p:spPr>
          <a:xfrm>
            <a:off x="1571625" y="5181600"/>
            <a:ext cx="15144750" cy="5905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3150" b="1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defPPr>
          </a:lstStyle>
          <a:p>
            <a:pPr algn="ctr">
              <a:defRPr sz="3150" b="1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pPr>
            <a:r>
              <a:rPr sz="3150" b="1">
                <a:solidFill>
                  <a:srgbClr val="30190F"/>
                </a:solidFill>
                <a:latin typeface="Book Antiqua"/>
                <a:ea typeface="Book Antiqua"/>
                <a:cs typeface="Book Antiqua"/>
              </a:rPr>
              <a:t>3D Medical Image Segmentation + Web Visualisation</a:t>
            </a:r>
          </a:p>
        </p:txBody>
      </p:sp>
      <p:sp>
        <p:nvSpPr>
          <p:cNvPr id="12" name="content-5">
            <a:extLst>
              <a:ext uri="{FF2B5EF4-FFF2-40B4-BE49-F238E27FC236}">
                <ns2:creationId id="{13100590-F879-4FD2-9FAA-A274A8637423}"/>
              </a:ext>
            </a:extLst>
          </p:cNvPr>
          <p:cNvSpPr>
            <a:spLocks noGrp="1"/>
          </p:cNvSpPr>
          <p:nvPr/>
        </p:nvSpPr>
        <p:spPr>
          <a:xfrm>
            <a:off x="1714500" y="5810250"/>
            <a:ext cx="14859000" cy="400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100" b="0">
                <a:solidFill>
                  <a:srgbClr val="30190F"/>
                </a:solidFill>
                <a:latin typeface="Century"/>
                <a:ea typeface="Century"/>
                <a:cs typeface="Century"/>
              </a:defRPr>
            </a:defPPr>
          </a:lstStyle>
          <a:p>
            <a:pPr algn="ctr">
              <a:defRPr sz="2100" b="0">
                <a:solidFill>
                  <a:srgbClr val="30190F"/>
                </a:solidFill>
                <a:latin typeface="Century"/>
                <a:ea typeface="Century"/>
                <a:cs typeface="Century"/>
              </a:defRPr>
            </a:pPr>
            <a:r>
              <a:rPr sz="2100" b="0">
                <a:solidFill>
                  <a:srgbClr val="30190F"/>
                </a:solidFill>
                <a:latin typeface="Century"/>
                <a:ea typeface="Century"/>
                <a:cs typeface="Century"/>
              </a:rPr>
              <a:t>See a brain tumour in 3D, measure it, and know how far to trust it.</a:t>
            </a:r>
          </a:p>
        </p:txBody>
      </p:sp>
      <p:sp>
        <p:nvSpPr>
          <p:cNvPr id="13" name="content-6">
            <a:extLst>
              <a:ext uri="{FF2B5EF4-FFF2-40B4-BE49-F238E27FC236}">
                <ns2:creationId id="{2B7627AE-51F0-4FDD-A300-855643F31646}"/>
              </a:ext>
            </a:extLst>
          </p:cNvPr>
          <p:cNvSpPr>
            <a:spLocks noGrp="1"/>
          </p:cNvSpPr>
          <p:nvPr/>
        </p:nvSpPr>
        <p:spPr>
          <a:xfrm>
            <a:off x="2476500" y="6429375"/>
            <a:ext cx="2857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defRPr>
            </a:defPPr>
          </a:lstStyle>
          <a:p>
            <a:pPr algn="l">
              <a:defRPr sz="20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defRPr>
            </a:pPr>
            <a:r>
              <a:rPr sz="20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rPr>
              <a:t>TEAM NAME</a:t>
            </a:r>
          </a:p>
        </p:txBody>
      </p:sp>
      <p:sp>
        <p:nvSpPr>
          <p:cNvPr id="14" name="content-rule-7">
            <a:extLst>
              <a:ext uri="{FF2B5EF4-FFF2-40B4-BE49-F238E27FC236}">
                <ns2:creationId id="{B4EBE6A1-9E28-434F-B1EE-ED2CDCC05A28}"/>
              </a:ext>
            </a:extLst>
          </p:cNvPr>
          <p:cNvSpPr>
            <a:spLocks noGrp="1"/>
          </p:cNvSpPr>
          <p:nvPr/>
        </p:nvSpPr>
        <p:spPr>
          <a:xfrm>
            <a:off x="2476500" y="6867525"/>
            <a:ext cx="2857500" cy="0"/>
          </a:xfrm>
          <a:prstGeom prst="line">
            <a:avLst/>
          </a:prstGeom>
          <a:ln w="9525">
            <a:solidFill>
              <a:srgbClr val="C9A778"/>
            </a:solidFill>
          </a:ln>
        </p:spPr>
      </p:sp>
      <p:sp>
        <p:nvSpPr>
          <p:cNvPr id="15" name="content-8">
            <a:extLst>
              <a:ext uri="{FF2B5EF4-FFF2-40B4-BE49-F238E27FC236}">
                <ns2:creationId id="{F58E3D8C-0016-408F-925B-98FBFD9F8CEF}"/>
              </a:ext>
            </a:extLst>
          </p:cNvPr>
          <p:cNvSpPr>
            <a:spLocks noGrp="1"/>
          </p:cNvSpPr>
          <p:nvPr/>
        </p:nvSpPr>
        <p:spPr>
          <a:xfrm>
            <a:off x="2476500" y="7029450"/>
            <a:ext cx="2857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150" b="0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defPPr>
          </a:lstStyle>
          <a:p>
            <a:pPr algn="l">
              <a:defRPr sz="3150" b="0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pPr>
            <a:r>
              <a:rPr sz="3150" b="0">
                <a:solidFill>
                  <a:srgbClr val="30190F"/>
                </a:solidFill>
                <a:latin typeface="Book Antiqua"/>
                <a:ea typeface="Book Antiqua"/>
                <a:cs typeface="Book Antiqua"/>
              </a:rPr>
              <a:t>Outliers</a:t>
            </a:r>
          </a:p>
        </p:txBody>
      </p:sp>
      <p:sp>
        <p:nvSpPr>
          <p:cNvPr id="16" name="content-9">
            <a:extLst>
              <a:ext uri="{FF2B5EF4-FFF2-40B4-BE49-F238E27FC236}">
                <ns2:creationId id="{F2C9F427-F02C-49F3-B1FB-BE9902E6AE8E}"/>
              </a:ext>
            </a:extLst>
          </p:cNvPr>
          <p:cNvSpPr>
            <a:spLocks noGrp="1"/>
          </p:cNvSpPr>
          <p:nvPr/>
        </p:nvSpPr>
        <p:spPr>
          <a:xfrm>
            <a:off x="6810375" y="6429375"/>
            <a:ext cx="47625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defRPr>
            </a:defPPr>
          </a:lstStyle>
          <a:p>
            <a:pPr algn="l">
              <a:defRPr sz="20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defRPr>
            </a:pPr>
            <a:r>
              <a:rPr sz="20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rPr>
              <a:t>TEAM MEMBERS</a:t>
            </a:r>
          </a:p>
        </p:txBody>
      </p:sp>
      <p:sp>
        <p:nvSpPr>
          <p:cNvPr id="17" name="content-rule-10">
            <a:extLst>
              <a:ext uri="{FF2B5EF4-FFF2-40B4-BE49-F238E27FC236}">
                <ns2:creationId id="{0E0DA420-2A30-42FC-AA73-F277DB762E79}"/>
              </a:ext>
            </a:extLst>
          </p:cNvPr>
          <p:cNvSpPr>
            <a:spLocks noGrp="1"/>
          </p:cNvSpPr>
          <p:nvPr/>
        </p:nvSpPr>
        <p:spPr>
          <a:xfrm>
            <a:off x="6810375" y="6867525"/>
            <a:ext cx="4762500" cy="0"/>
          </a:xfrm>
          <a:prstGeom prst="line">
            <a:avLst/>
          </a:prstGeom>
          <a:ln w="9525">
            <a:solidFill>
              <a:srgbClr val="C9A778"/>
            </a:solidFill>
          </a:ln>
        </p:spPr>
      </p:sp>
      <p:sp>
        <p:nvSpPr>
          <p:cNvPr id="18" name="content-11">
            <a:extLst>
              <a:ext uri="{FF2B5EF4-FFF2-40B4-BE49-F238E27FC236}">
                <ns2:creationId id="{24ECBF5A-8FB9-4C97-9DEE-A2BBC753FF84}"/>
              </a:ext>
            </a:extLst>
          </p:cNvPr>
          <p:cNvSpPr>
            <a:spLocks noGrp="1"/>
          </p:cNvSpPr>
          <p:nvPr/>
        </p:nvSpPr>
        <p:spPr>
          <a:xfrm>
            <a:off x="6810375" y="7029450"/>
            <a:ext cx="476250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17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defPPr>
          </a:lstStyle>
          <a:p>
            <a:pPr algn="l">
              <a:defRPr sz="217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pPr>
            <a:r>
              <a:rPr sz="217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rPr>
              <a:t>Jeevesh Bodhani</a:t>
            </a:r>
          </a:p>
          <a:p>
            <a:pPr algn="l">
              <a:defRPr sz="217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pPr>
            <a:r>
              <a:rPr sz="217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rPr>
              <a:t>Rishit Lahoti</a:t>
            </a:r>
          </a:p>
          <a:p>
            <a:pPr algn="l">
              <a:defRPr sz="217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pPr>
            <a:r>
              <a:rPr sz="217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rPr>
              <a:t>Shreyas Kale</a:t>
            </a:r>
          </a:p>
        </p:txBody>
      </p:sp>
      <p:sp>
        <p:nvSpPr>
          <p:cNvPr id="19" name="content-12">
            <a:extLst>
              <a:ext uri="{FF2B5EF4-FFF2-40B4-BE49-F238E27FC236}">
                <ns2:creationId id="{FF5BD990-8BC8-4B45-8341-F8C492892E5D}"/>
              </a:ext>
            </a:extLst>
          </p:cNvPr>
          <p:cNvSpPr>
            <a:spLocks noGrp="1"/>
          </p:cNvSpPr>
          <p:nvPr/>
        </p:nvSpPr>
        <p:spPr>
          <a:xfrm>
            <a:off x="12668250" y="6429375"/>
            <a:ext cx="4286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defRPr>
            </a:defPPr>
          </a:lstStyle>
          <a:p>
            <a:pPr algn="l">
              <a:defRPr sz="20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defRPr>
            </a:pPr>
            <a:r>
              <a:rPr sz="20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rPr>
              <a:t>INSTITUTION</a:t>
            </a:r>
          </a:p>
        </p:txBody>
      </p:sp>
      <p:sp>
        <p:nvSpPr>
          <p:cNvPr id="20" name="content-rule-13">
            <a:extLst>
              <a:ext uri="{FF2B5EF4-FFF2-40B4-BE49-F238E27FC236}">
                <ns2:creationId id="{7B147A82-E759-42EE-A829-6511DBD36601}"/>
              </a:ext>
            </a:extLst>
          </p:cNvPr>
          <p:cNvSpPr>
            <a:spLocks noGrp="1"/>
          </p:cNvSpPr>
          <p:nvPr/>
        </p:nvSpPr>
        <p:spPr>
          <a:xfrm>
            <a:off x="12668250" y="6867525"/>
            <a:ext cx="4286250" cy="0"/>
          </a:xfrm>
          <a:prstGeom prst="line">
            <a:avLst/>
          </a:prstGeom>
          <a:ln w="9525">
            <a:solidFill>
              <a:srgbClr val="C9A778"/>
            </a:solidFill>
          </a:ln>
        </p:spPr>
      </p:sp>
      <p:sp>
        <p:nvSpPr>
          <p:cNvPr id="21" name="content-14">
            <a:extLst>
              <a:ext uri="{FF2B5EF4-FFF2-40B4-BE49-F238E27FC236}">
                <ns2:creationId id="{8101E3A9-BB2E-4587-9C73-729577C23C20}"/>
              </a:ext>
            </a:extLst>
          </p:cNvPr>
          <p:cNvSpPr>
            <a:spLocks noGrp="1"/>
          </p:cNvSpPr>
          <p:nvPr/>
        </p:nvSpPr>
        <p:spPr>
          <a:xfrm>
            <a:off x="12668250" y="7029450"/>
            <a:ext cx="42862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2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defPPr>
          </a:lstStyle>
          <a:p>
            <a:pPr algn="l">
              <a:defRPr sz="232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pPr>
            <a:r>
              <a:rPr sz="232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rPr>
              <a:t>DJ Sanghvi College</a:t>
            </a:r>
          </a:p>
          <a:p>
            <a:pPr algn="l">
              <a:defRPr sz="232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defRPr>
            </a:pPr>
            <a:r>
              <a:rPr sz="2325" b="0">
                <a:solidFill>
                  <a:srgbClr val="30190F"/>
                </a:solidFill>
                <a:latin typeface="Book Antiqua"/>
                <a:ea typeface="Book Antiqua"/>
                <a:cs typeface="Book Antiqua"/>
              </a:rPr>
              <a:t>of Engineering</a:t>
            </a:r>
          </a:p>
        </p:txBody>
      </p:sp>
      <p:sp>
        <p:nvSpPr>
          <p:cNvPr id="22" name="content-15">
            <a:extLst>
              <a:ext uri="{FF2B5EF4-FFF2-40B4-BE49-F238E27FC236}">
                <ns2:creationId id="{2A2E73C9-D764-40D7-8907-1B87E0C5F3A4}"/>
              </a:ext>
            </a:extLst>
          </p:cNvPr>
          <p:cNvSpPr>
            <a:spLocks noGrp="1"/>
          </p:cNvSpPr>
          <p:nvPr/>
        </p:nvSpPr>
        <p:spPr>
          <a:xfrm>
            <a:off x="3714750" y="8172450"/>
            <a:ext cx="10858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C2019"/>
                </a:solidFill>
                <a:latin typeface="Calibri"/>
                <a:ea typeface="Calibri"/>
                <a:cs typeface="Calibri"/>
              </a:rPr>
              <a:t>Research &amp; teaching prototype only · Not for clinical diagnosis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635" cy="10287000"/>
            <a:chOff x="0" y="0"/>
            <a:chExt cx="18288635" cy="10287000"/>
          </a:xfrm>
        </p:grpSpPr>
        <p:sp>
          <p:nvSpPr>
            <p:cNvPr id="3" name="object 3"/>
            <p:cNvSpPr/>
            <p:nvPr/>
          </p:nvSpPr>
          <p:spPr>
            <a:xfrm>
              <a:off x="57627" y="0"/>
              <a:ext cx="18185765" cy="10287000"/>
            </a:xfrm>
            <a:custGeom>
              <a:avLst/>
              <a:gdLst/>
              <a:ahLst/>
              <a:cxnLst/>
              <a:rect l="l" t="t" r="r" b="b"/>
              <a:pathLst>
                <a:path w="18185765" h="10287000">
                  <a:moveTo>
                    <a:pt x="0" y="10287000"/>
                  </a:moveTo>
                  <a:lnTo>
                    <a:pt x="18185689" y="10287000"/>
                  </a:lnTo>
                  <a:lnTo>
                    <a:pt x="18185689" y="0"/>
                  </a:lnTo>
                  <a:lnTo>
                    <a:pt x="0" y="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4DF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57627" cy="10287000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8243317" y="0"/>
              <a:ext cx="44684" cy="1028700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76" y="0"/>
              <a:ext cx="18281223" cy="98928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0" y="18397"/>
              <a:ext cx="18288009" cy="15247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88282" y="141729"/>
              <a:ext cx="3648059" cy="1219198"/>
            </a:xfrm>
            <a:prstGeom prst="rect">
              <a:avLst/>
            </a:prstGeom>
          </p:spPr>
        </p:pic>
      </p:grpSp>
      <p:sp>
        <p:nvSpPr>
          <p:cNvPr id="9" name="object 9" descr="$PPTXTitle"/>
          <p:cNvSpPr txBox="1">
            <a:spLocks noGrp="1"/>
          </p:cNvSpPr>
          <p:nvPr>
            <p:ph type="title"/>
          </p:nvPr>
        </p:nvSpPr>
        <p:spPr>
          <a:xfrm>
            <a:off x="4842934" y="416997"/>
            <a:ext cx="6943725" cy="5238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19710">
              <a:lnSpc>
                <a:spcPct val="100000"/>
              </a:lnSpc>
              <a:spcBef>
                <a:spcPts val="125"/>
              </a:spcBef>
            </a:pPr>
            <a:r>
              <a:rPr spc="335" dirty="0">
                <a:solidFill>
                  <a:srgbClr val="FFFF00"/>
                </a:solidFill>
                <a:latin typeface="Baskerville Old Face" panose="02020602080505020303" pitchFamily="18" charset="0"/>
              </a:rPr>
              <a:t>Idea</a:t>
            </a:r>
            <a:r>
              <a:rPr spc="409" dirty="0">
                <a:solidFill>
                  <a:srgbClr val="FFFF00"/>
                </a:solidFill>
                <a:latin typeface="Baskerville Old Face" panose="02020602080505020303" pitchFamily="18" charset="0"/>
              </a:rPr>
              <a:t> </a:t>
            </a:r>
            <a:r>
              <a:rPr dirty="0">
                <a:solidFill>
                  <a:srgbClr val="FFFF00"/>
                </a:solidFill>
                <a:latin typeface="Baskerville Old Face" panose="02020602080505020303" pitchFamily="18" charset="0"/>
              </a:rPr>
              <a:t>/</a:t>
            </a:r>
            <a:r>
              <a:rPr spc="415" dirty="0">
                <a:solidFill>
                  <a:srgbClr val="FFFF00"/>
                </a:solidFill>
                <a:latin typeface="Baskerville Old Face" panose="02020602080505020303" pitchFamily="18" charset="0"/>
              </a:rPr>
              <a:t> </a:t>
            </a:r>
            <a:r>
              <a:rPr spc="385" dirty="0">
                <a:solidFill>
                  <a:srgbClr val="FFFF00"/>
                </a:solidFill>
                <a:latin typeface="Baskerville Old Face" panose="02020602080505020303" pitchFamily="18" charset="0"/>
              </a:rPr>
              <a:t>Solution</a:t>
            </a:r>
            <a:r>
              <a:rPr spc="409" dirty="0">
                <a:solidFill>
                  <a:srgbClr val="FFFF00"/>
                </a:solidFill>
                <a:latin typeface="Baskerville Old Face" panose="02020602080505020303" pitchFamily="18" charset="0"/>
              </a:rPr>
              <a:t> </a:t>
            </a:r>
            <a:r>
              <a:rPr dirty="0">
                <a:solidFill>
                  <a:srgbClr val="FFFF00"/>
                </a:solidFill>
                <a:latin typeface="Baskerville Old Face" panose="02020602080505020303" pitchFamily="18" charset="0"/>
              </a:rPr>
              <a:t>/</a:t>
            </a:r>
            <a:r>
              <a:rPr spc="415" dirty="0">
                <a:solidFill>
                  <a:srgbClr val="FFFF00"/>
                </a:solidFill>
                <a:latin typeface="Baskerville Old Face" panose="02020602080505020303" pitchFamily="18" charset="0"/>
              </a:rPr>
              <a:t> </a:t>
            </a:r>
            <a:r>
              <a:rPr spc="345" dirty="0">
                <a:solidFill>
                  <a:srgbClr val="FFFF00"/>
                </a:solidFill>
                <a:latin typeface="Baskerville Old Face" panose="02020602080505020303" pitchFamily="18" charset="0"/>
              </a:rPr>
              <a:t>Prototype</a:t>
            </a:r>
          </a:p>
        </p:txBody>
      </p:sp>
      <p:grpSp>
        <p:nvGrpSpPr>
          <p:cNvPr id="10" name="object 10"/>
          <p:cNvGrpSpPr/>
          <p:nvPr/>
        </p:nvGrpSpPr>
        <p:grpSpPr>
          <a:xfrm>
            <a:off x="0" y="9696991"/>
            <a:ext cx="18288635" cy="590550"/>
            <a:chOff x="0" y="9696991"/>
            <a:chExt cx="18288635" cy="590550"/>
          </a:xfrm>
        </p:grpSpPr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0" y="9823186"/>
              <a:ext cx="18288000" cy="347461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6776" y="9892862"/>
              <a:ext cx="18281650" cy="394335"/>
            </a:xfrm>
            <a:custGeom>
              <a:avLst/>
              <a:gdLst/>
              <a:ahLst/>
              <a:cxnLst/>
              <a:rect l="l" t="t" r="r" b="b"/>
              <a:pathLst>
                <a:path w="18281650" h="394334">
                  <a:moveTo>
                    <a:pt x="18281232" y="394124"/>
                  </a:moveTo>
                  <a:lnTo>
                    <a:pt x="0" y="394124"/>
                  </a:lnTo>
                  <a:lnTo>
                    <a:pt x="0" y="0"/>
                  </a:lnTo>
                  <a:lnTo>
                    <a:pt x="18281232" y="0"/>
                  </a:lnTo>
                  <a:lnTo>
                    <a:pt x="18281232" y="394124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14797" y="9696991"/>
              <a:ext cx="1274467" cy="388619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975223" y="10001012"/>
            <a:ext cx="1284605" cy="1955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60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defPPr>
          </a:lstStyle>
          <a:p>
            <a:pPr marL="12700">
              <a:lnSpc>
                <a:spcPts val="1540"/>
              </a:lnSpc>
              <a:buNone/>
              <a:defRPr sz="160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pPr>
            <a:r>
              <a:rPr sz="1600" b="1" spc="150">
                <a:solidFill>
                  <a:srgbClr val="FFF7E9"/>
                </a:solidFill>
                <a:latin typeface="Calibri"/>
                <a:ea typeface="Calibri"/>
                <a:cs typeface="Calibri"/>
              </a:rPr>
              <a:t>OUTLIERS</a:t>
            </a: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7352018" y="9976353"/>
            <a:ext cx="396240" cy="2540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15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defPPr>
          </a:lstStyle>
          <a:p>
            <a:pPr marL="12700">
              <a:lnSpc>
                <a:spcPts val="2000"/>
              </a:lnSpc>
              <a:buNone/>
              <a:defRPr sz="215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pPr>
            <a:r>
              <a:rPr sz="2150" b="1" spc="340">
                <a:solidFill>
                  <a:srgbClr val="FFF7E9"/>
                </a:solidFill>
                <a:latin typeface="Calibri"/>
                <a:ea typeface="Calibri"/>
                <a:cs typeface="Calibri"/>
              </a:rPr>
              <a:t>01</a:t>
            </a:r>
            <a:endParaRPr sz="2150">
              <a:latin typeface="Calibri"/>
              <a:ea typeface="Calibri"/>
              <a:cs typeface="Calibri"/>
            </a:endParaRPr>
          </a:p>
        </p:txBody>
      </p:sp>
      <p:sp>
        <p:nvSpPr>
          <p:cNvPr id="16" name="content-16">
            <a:extLst>
              <a:ext uri="{FF2B5EF4-FFF2-40B4-BE49-F238E27FC236}">
                <ns3:creationId id="{515D24A6-9360-433B-8124-939DFF815E06}"/>
              </a:ext>
            </a:extLst>
          </p:cNvPr>
          <p:cNvSpPr>
            <a:spLocks noGrp="1"/>
          </p:cNvSpPr>
          <p:nvPr/>
        </p:nvSpPr>
        <p:spPr>
          <a:xfrm>
            <a:off x="819150" y="1828800"/>
            <a:ext cx="1666875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32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defRPr>
            </a:defPPr>
          </a:lstStyle>
          <a:p>
            <a:pPr algn="l">
              <a:defRPr sz="32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defRPr>
            </a:pPr>
            <a:r>
              <a:rPr sz="3225" b="1">
                <a:solidFill>
                  <a:srgbClr val="6C2019"/>
                </a:solidFill>
                <a:latin typeface="Book Antiqua"/>
                <a:ea typeface="Book Antiqua"/>
                <a:cs typeface="Book Antiqua"/>
              </a:rPr>
              <a:t>A linked 3D workspace with an inspectable trust layer</a:t>
            </a:r>
          </a:p>
        </p:txBody>
      </p:sp>
      <p:sp>
        <p:nvSpPr>
          <p:cNvPr id="17" name="content-17">
            <a:extLst>
              <a:ext uri="{FF2B5EF4-FFF2-40B4-BE49-F238E27FC236}">
                <ns3:creationId id="{8AFBCD35-0F42-4B3B-9243-097B550B6F4F}"/>
              </a:ext>
            </a:extLst>
          </p:cNvPr>
          <p:cNvSpPr>
            <a:spLocks noGrp="1"/>
          </p:cNvSpPr>
          <p:nvPr/>
        </p:nvSpPr>
        <p:spPr>
          <a:xfrm>
            <a:off x="819150" y="2724150"/>
            <a:ext cx="50482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C2019"/>
                </a:solidFill>
                <a:latin typeface="Calibri"/>
                <a:ea typeface="Calibri"/>
                <a:cs typeface="Calibri"/>
              </a:rPr>
              <a:t>THE PROBLEM</a:t>
            </a:r>
          </a:p>
        </p:txBody>
      </p:sp>
      <p:sp>
        <p:nvSpPr>
          <p:cNvPr id="18" name="content-18">
            <a:extLst>
              <a:ext uri="{FF2B5EF4-FFF2-40B4-BE49-F238E27FC236}">
                <ns3:creationId id="{99F8B098-B44E-419A-99D4-A9E619A67F34}"/>
              </a:ext>
            </a:extLst>
          </p:cNvPr>
          <p:cNvSpPr>
            <a:spLocks noGrp="1"/>
          </p:cNvSpPr>
          <p:nvPr/>
        </p:nvSpPr>
        <p:spPr>
          <a:xfrm>
            <a:off x="819150" y="3133725"/>
            <a:ext cx="5048250" cy="914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62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62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pPr>
            <a:r>
              <a:rPr sz="6225" b="1">
                <a:solidFill>
                  <a:srgbClr val="6C2019"/>
                </a:solidFill>
                <a:latin typeface="Calibri"/>
                <a:ea typeface="Calibri"/>
                <a:cs typeface="Calibri"/>
              </a:rPr>
              <a:t>~620</a:t>
            </a:r>
          </a:p>
        </p:txBody>
      </p:sp>
      <p:sp>
        <p:nvSpPr>
          <p:cNvPr id="19" name="content-19">
            <a:extLst>
              <a:ext uri="{FF2B5EF4-FFF2-40B4-BE49-F238E27FC236}">
                <ns3:creationId id="{A581BD23-C492-4C29-AF50-B1FC6BA80D7C}"/>
              </a:ext>
            </a:extLst>
          </p:cNvPr>
          <p:cNvSpPr>
            <a:spLocks noGrp="1"/>
          </p:cNvSpPr>
          <p:nvPr/>
        </p:nvSpPr>
        <p:spPr>
          <a:xfrm>
            <a:off x="819150" y="4048125"/>
            <a:ext cx="504825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950" b="1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950" b="1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  <a:r>
              <a:rPr sz="1950" b="1">
                <a:solidFill>
                  <a:srgbClr val="30190F"/>
                </a:solidFill>
                <a:latin typeface="Calibri"/>
                <a:ea typeface="Calibri"/>
                <a:cs typeface="Calibri"/>
              </a:rPr>
              <a:t>4 sequences × roughly 155 slices per study</a:t>
            </a:r>
          </a:p>
        </p:txBody>
      </p:sp>
      <p:sp>
        <p:nvSpPr>
          <p:cNvPr id="20" name="content-20">
            <a:extLst>
              <a:ext uri="{FF2B5EF4-FFF2-40B4-BE49-F238E27FC236}">
                <ns3:creationId id="{663CA609-65C2-48C9-BB28-98F82D959D4E}"/>
              </a:ext>
            </a:extLst>
          </p:cNvPr>
          <p:cNvSpPr>
            <a:spLocks noGrp="1"/>
          </p:cNvSpPr>
          <p:nvPr/>
        </p:nvSpPr>
        <p:spPr>
          <a:xfrm>
            <a:off x="819150" y="4552950"/>
            <a:ext cx="504825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02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202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  <a:r>
              <a:rPr sz="2025" b="0">
                <a:solidFill>
                  <a:srgbClr val="30190F"/>
                </a:solidFill>
                <a:latin typeface="Calibri"/>
                <a:ea typeface="Calibri"/>
                <a:cs typeface="Calibri"/>
              </a:rPr>
              <a:t>A trainee reconstructs an irregular 3D lesion by scrolling. A coloured slice alone leaves three questions: one mass or several, which side, and how many millilitres?</a:t>
            </a:r>
          </a:p>
        </p:txBody>
      </p:sp>
      <p:graphicFrame>
        <p:nvGraphicFramePr>
          <p:cNvPr id="21" name="">
            <a:extLst>
              <a:ext uri="{FF2B5EF4-FFF2-40B4-BE49-F238E27FC236}">
                <ns3:creationId id="{2E6FA7EE-B9D2-4111-BF49-840DA8E1F7E0}"/>
              </a:ext>
            </a:extLst>
          </p:cNvPr>
          <p:cNvGraphicFramePr/>
          <p:nvPr/>
        </p:nvGraphicFramePr>
        <p:xfrm>
          <a:off x="819150" y="5829300"/>
          <a:ext cx="5048250" cy="2162175"/>
        </p:xfrm>
        <a:graphic>
          <a:graphicData uri="http://schemas.openxmlformats.org/drawingml/2006/table">
            <a:tbl>
              <a:tblPr/>
              <a:tblGrid>
                <a:gridCol w="1428750"/>
                <a:gridCol w="3619500"/>
              </a:tblGrid>
              <a:tr h="432435">
                <a:tc>
                  <a:txBody>
                    <a:bodyPr lIns="114300" tIns="85725" rIns="95250" bIns="85725"/>
                    <a:lstStyle/>
                    <a:p>
                      <a:r>
                        <a:rPr sz="1650" b="1">
                          <a:solidFill>
                            <a:srgbClr val="FFF7E9"/>
                          </a:solidFill>
                          <a:latin typeface="Calibri"/>
                          <a:ea typeface="Calibri"/>
                          <a:cs typeface="Calibri"/>
                        </a:rPr>
                        <a:t>SEQUENCE</a:t>
                      </a:r>
                    </a:p>
                  </a:txBody>
                  <a:tcPr marL="91440" marR="91440" marT="45720" marB="45720" anchor="ctr">
                    <a:solidFill>
                      <a:srgbClr val="6C2019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r>
                        <a:rPr sz="1650" b="1">
                          <a:solidFill>
                            <a:srgbClr val="FFF7E9"/>
                          </a:solidFill>
                          <a:latin typeface="Calibri"/>
                          <a:ea typeface="Calibri"/>
                          <a:cs typeface="Calibri"/>
                        </a:rPr>
                        <a:t>WHAT IT ADDS</a:t>
                      </a:r>
                    </a:p>
                  </a:txBody>
                  <a:tcPr marL="91440" marR="91440" marT="45720" marB="45720" anchor="ctr">
                    <a:solidFill>
                      <a:srgbClr val="6C2019"/>
                    </a:solidFill>
                  </a:tcPr>
                </a:tc>
              </a:tr>
              <a:tr h="432435">
                <a:tc>
                  <a:txBody>
                    <a:bodyPr lIns="114300" tIns="85725" rIns="95250" bIns="85725"/>
                    <a:lstStyle/>
                    <a:p>
                      <a:r>
                        <a:rPr sz="1725" b="1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T1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r>
                        <a:rPr sz="1725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Baseline anatomy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</a:tr>
              <a:tr h="432435">
                <a:tc>
                  <a:txBody>
                    <a:bodyPr lIns="114300" tIns="85725" rIns="95250" bIns="85725"/>
                    <a:lstStyle/>
                    <a:p>
                      <a:r>
                        <a:rPr sz="1725" b="1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T1Gd</a:t>
                      </a:r>
                    </a:p>
                  </a:txBody>
                  <a:tcPr marL="91440" marR="91440" marT="45720" marB="45720" anchor="ctr">
                    <a:solidFill>
                      <a:srgbClr val="F8EBD8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r>
                        <a:rPr sz="1725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Contrast enhancement</a:t>
                      </a:r>
                    </a:p>
                  </a:txBody>
                  <a:tcPr marL="91440" marR="91440" marT="45720" marB="45720" anchor="ctr">
                    <a:solidFill>
                      <a:srgbClr val="F8EBD8"/>
                    </a:solidFill>
                  </a:tcPr>
                </a:tc>
              </a:tr>
              <a:tr h="432435">
                <a:tc>
                  <a:txBody>
                    <a:bodyPr lIns="114300" tIns="85725" rIns="95250" bIns="85725"/>
                    <a:lstStyle/>
                    <a:p>
                      <a:r>
                        <a:rPr sz="1725" b="1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T2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r>
                        <a:rPr sz="1725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Tissue / lesion context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</a:tr>
              <a:tr h="432435">
                <a:tc>
                  <a:txBody>
                    <a:bodyPr lIns="114300" tIns="85725" rIns="95250" bIns="85725"/>
                    <a:lstStyle/>
                    <a:p>
                      <a:r>
                        <a:rPr sz="1725" b="1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FLAIR</a:t>
                      </a:r>
                    </a:p>
                  </a:txBody>
                  <a:tcPr marL="91440" marR="91440" marT="45720" marB="45720" anchor="ctr">
                    <a:solidFill>
                      <a:srgbClr val="F8EBD8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r>
                        <a:rPr sz="1725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Fluid-suppressed signal</a:t>
                      </a:r>
                    </a:p>
                  </a:txBody>
                  <a:tcPr marL="91440" marR="91440" marT="45720" marB="45720" anchor="ctr">
                    <a:solidFill>
                      <a:srgbClr val="F8EBD8"/>
                    </a:solidFill>
                  </a:tcPr>
                </a:tc>
              </a:tr>
            </a:tbl>
          </a:graphicData>
        </a:graphic>
      </p:graphicFrame>
      <p:sp>
        <p:nvSpPr>
          <p:cNvPr id="22" name="content-21">
            <a:extLst>
              <a:ext uri="{FF2B5EF4-FFF2-40B4-BE49-F238E27FC236}">
                <ns3:creationId id="{ECCFC4F4-8EBB-4066-9F59-63A96082FB61}"/>
              </a:ext>
            </a:extLst>
          </p:cNvPr>
          <p:cNvSpPr>
            <a:spLocks noGrp="1"/>
          </p:cNvSpPr>
          <p:nvPr/>
        </p:nvSpPr>
        <p:spPr>
          <a:xfrm>
            <a:off x="6334125" y="2724150"/>
            <a:ext cx="51435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C2019"/>
                </a:solidFill>
                <a:latin typeface="Calibri"/>
                <a:ea typeface="Calibri"/>
                <a:cs typeface="Calibri"/>
              </a:rPr>
              <a:t>THE DIGITAL TWIN</a:t>
            </a:r>
          </a:p>
        </p:txBody>
      </p:sp>
      <p:pic>
        <p:nvPicPr>
          <p:cNvPr id="23" name="">
            <a:extLst>
              <a:ext uri="{FF2B5EF4-FFF2-40B4-BE49-F238E27FC236}">
                <ns3:creationId id="{5CE51D37-31AF-4407-B879-A6EA1C71BC9C}"/>
              </a:ext>
            </a:extLst>
          </p:cNvPr>
          <p:cNvPicPr>
            <a:picLocks noChangeAspect="1"/>
          </p:cNvPicPr>
          <p:nvPr/>
        </p:nvPicPr>
        <p:blipFill>
          <a:blip r:embed="add_Rc4e7dc2775514dcb"/>
          <a:stretch/>
        </p:blipFill>
        <p:spPr>
          <a:xfrm>
            <a:off x="7453313" y="3105150"/>
            <a:ext cx="2857500" cy="2857500"/>
          </a:xfrm>
          <a:prstGeom prst="rect">
            <a:avLst/>
          </a:prstGeom>
        </p:spPr>
      </p:pic>
      <p:sp>
        <p:nvSpPr>
          <p:cNvPr id="24" name="content-22">
            <a:extLst>
              <a:ext uri="{FF2B5EF4-FFF2-40B4-BE49-F238E27FC236}">
                <ns3:creationId id="{8B0153C8-394B-406E-9C75-3686B8CB2640}"/>
              </a:ext>
            </a:extLst>
          </p:cNvPr>
          <p:cNvSpPr>
            <a:spLocks noGrp="1"/>
          </p:cNvSpPr>
          <p:nvPr/>
        </p:nvSpPr>
        <p:spPr>
          <a:xfrm>
            <a:off x="6334125" y="5953125"/>
            <a:ext cx="514350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1350" b="0">
                <a:solidFill>
                  <a:srgbClr val="674C38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ctr">
              <a:defRPr sz="1350" b="0">
                <a:solidFill>
                  <a:srgbClr val="674C38"/>
                </a:solidFill>
                <a:latin typeface="Calibri"/>
                <a:ea typeface="Calibri"/>
                <a:cs typeface="Calibri"/>
              </a:defRPr>
            </a:pPr>
            <a:r>
              <a:rPr sz="1350" b="0">
                <a:solidFill>
                  <a:srgbClr val="674C38"/>
                </a:solidFill>
                <a:latin typeface="Calibri"/>
                <a:ea typeface="Calibri"/>
                <a:cs typeface="Calibri"/>
              </a:rPr>
              <a:t>Conceptual illustration · not patient data or a model result</a:t>
            </a:r>
          </a:p>
        </p:txBody>
      </p:sp>
      <p:graphicFrame>
        <p:nvGraphicFramePr>
          <p:cNvPr id="25" name="">
            <a:extLst>
              <a:ext uri="{FF2B5EF4-FFF2-40B4-BE49-F238E27FC236}">
                <ns3:creationId id="{4EC7AB51-4A23-4E2D-A8E7-6568CE62402E}"/>
              </a:ext>
            </a:extLst>
          </p:cNvPr>
          <p:cNvGraphicFramePr/>
          <p:nvPr/>
        </p:nvGraphicFramePr>
        <p:xfrm>
          <a:off x="6334125" y="6305550"/>
          <a:ext cx="5143500" cy="1685925"/>
        </p:xfrm>
        <a:graphic>
          <a:graphicData uri="http://schemas.openxmlformats.org/drawingml/2006/table">
            <a:tbl>
              <a:tblPr/>
              <a:tblGrid>
                <a:gridCol w="2095500"/>
                <a:gridCol w="3048000"/>
              </a:tblGrid>
              <a:tr h="421481">
                <a:tc>
                  <a:txBody>
                    <a:bodyPr lIns="114300" tIns="57150" rIns="95250" bIns="57150"/>
                    <a:lstStyle/>
                    <a:p>
                      <a:r>
                        <a:rPr sz="1500" b="1">
                          <a:solidFill>
                            <a:srgbClr val="FFF7E9"/>
                          </a:solidFill>
                          <a:latin typeface="Calibri"/>
                          <a:ea typeface="Calibri"/>
                          <a:cs typeface="Calibri"/>
                        </a:rPr>
                        <a:t>NEW REVIEW TOOL</a:t>
                      </a:r>
                    </a:p>
                  </a:txBody>
                  <a:tcPr marL="91440" marR="91440" marT="45720" marB="45720" anchor="ctr">
                    <a:solidFill>
                      <a:srgbClr val="6C2019"/>
                    </a:solidFill>
                  </a:tcPr>
                </a:tc>
                <a:tc>
                  <a:txBody>
                    <a:bodyPr lIns="114300" tIns="57150" rIns="95250" bIns="57150"/>
                    <a:lstStyle/>
                    <a:p>
                      <a:r>
                        <a:rPr sz="1500" b="1">
                          <a:solidFill>
                            <a:srgbClr val="FFF7E9"/>
                          </a:solidFill>
                          <a:latin typeface="Calibri"/>
                          <a:ea typeface="Calibri"/>
                          <a:cs typeface="Calibri"/>
                        </a:rPr>
                        <a:t>VISIBLE OUTPUT</a:t>
                      </a:r>
                    </a:p>
                  </a:txBody>
                  <a:tcPr marL="91440" marR="91440" marT="45720" marB="45720" anchor="ctr">
                    <a:solidFill>
                      <a:srgbClr val="6C2019"/>
                    </a:solidFill>
                  </a:tcPr>
                </a:tc>
              </a:tr>
              <a:tr h="421481">
                <a:tc>
                  <a:txBody>
                    <a:bodyPr lIns="114300" tIns="57150" rIns="95250" bIns="57150"/>
                    <a:lstStyle/>
                    <a:p>
                      <a:r>
                        <a:rPr sz="1575" b="1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Measure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  <a:tc>
                  <a:txBody>
                    <a:bodyPr lIns="114300" tIns="57150" rIns="95250" bIns="57150"/>
                    <a:lstStyle/>
                    <a:p>
                      <a:r>
                        <a:rPr sz="1575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Two-point distance (mm)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</a:tr>
              <a:tr h="421481">
                <a:tc>
                  <a:txBody>
                    <a:bodyPr lIns="114300" tIns="57150" rIns="95250" bIns="57150"/>
                    <a:lstStyle/>
                    <a:p>
                      <a:r>
                        <a:rPr sz="1575" b="1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Window / level</a:t>
                      </a:r>
                    </a:p>
                  </a:txBody>
                  <a:tcPr marL="91440" marR="91440" marT="45720" marB="45720" anchor="ctr">
                    <a:solidFill>
                      <a:srgbClr val="F8EBD8"/>
                    </a:solidFill>
                  </a:tcPr>
                </a:tc>
                <a:tc>
                  <a:txBody>
                    <a:bodyPr lIns="114300" tIns="57150" rIns="95250" bIns="57150"/>
                    <a:lstStyle/>
                    <a:p>
                      <a:r>
                        <a:rPr sz="1575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Contrast adjustment</a:t>
                      </a:r>
                    </a:p>
                  </a:txBody>
                  <a:tcPr marL="91440" marR="91440" marT="45720" marB="45720" anchor="ctr">
                    <a:solidFill>
                      <a:srgbClr val="F8EBD8"/>
                    </a:solidFill>
                  </a:tcPr>
                </a:tc>
              </a:tr>
              <a:tr h="421481">
                <a:tc>
                  <a:txBody>
                    <a:bodyPr lIns="114300" tIns="57150" rIns="95250" bIns="57150"/>
                    <a:lstStyle/>
                    <a:p>
                      <a:r>
                        <a:rPr sz="1575" b="1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Agreement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  <a:tc>
                  <a:txBody>
                    <a:bodyPr lIns="114300" tIns="57150" rIns="95250" bIns="57150"/>
                    <a:lstStyle/>
                    <a:p>
                      <a:r>
                        <a:rPr sz="1575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TP / FP / FN + miss jump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</a:tr>
            </a:tbl>
          </a:graphicData>
        </a:graphic>
      </p:graphicFrame>
      <p:sp>
        <p:nvSpPr>
          <p:cNvPr id="26" name="content-23">
            <a:extLst>
              <a:ext uri="{FF2B5EF4-FFF2-40B4-BE49-F238E27FC236}">
                <ns3:creationId id="{94C66C34-2B73-4B05-BB9A-B8CCDC102CCF}"/>
              </a:ext>
            </a:extLst>
          </p:cNvPr>
          <p:cNvSpPr>
            <a:spLocks noGrp="1"/>
          </p:cNvSpPr>
          <p:nvPr/>
        </p:nvSpPr>
        <p:spPr>
          <a:xfrm>
            <a:off x="11925300" y="2724150"/>
            <a:ext cx="554355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7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87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C2019"/>
                </a:solidFill>
                <a:latin typeface="Calibri"/>
                <a:ea typeface="Calibri"/>
                <a:cs typeface="Calibri"/>
              </a:rPr>
              <a:t>WHAT THE PLATFORM RETURNS</a:t>
            </a:r>
          </a:p>
        </p:txBody>
      </p:sp>
      <p:graphicFrame>
        <p:nvGraphicFramePr>
          <p:cNvPr id="27" name="">
            <a:extLst>
              <a:ext uri="{FF2B5EF4-FFF2-40B4-BE49-F238E27FC236}">
                <ns3:creationId id="{BC10B836-E095-49C8-AD58-EECA23C726BE}"/>
              </a:ext>
            </a:extLst>
          </p:cNvPr>
          <p:cNvGraphicFramePr/>
          <p:nvPr/>
        </p:nvGraphicFramePr>
        <p:xfrm>
          <a:off x="11925300" y="3171825"/>
          <a:ext cx="5543550" cy="1857375"/>
        </p:xfrm>
        <a:graphic>
          <a:graphicData uri="http://schemas.openxmlformats.org/drawingml/2006/table">
            <a:tbl>
              <a:tblPr/>
              <a:tblGrid>
                <a:gridCol w="2333625"/>
                <a:gridCol w="3209925"/>
              </a:tblGrid>
              <a:tr h="464344">
                <a:tc>
                  <a:txBody>
                    <a:bodyPr lIns="114300" tIns="85725" rIns="95250" bIns="85725"/>
                    <a:lstStyle/>
                    <a:p>
                      <a:r>
                        <a:rPr sz="1650" b="1">
                          <a:solidFill>
                            <a:srgbClr val="FFF7E9"/>
                          </a:solidFill>
                          <a:latin typeface="Calibri"/>
                          <a:ea typeface="Calibri"/>
                          <a:cs typeface="Calibri"/>
                        </a:rPr>
                        <a:t>REGION</a:t>
                      </a:r>
                    </a:p>
                  </a:txBody>
                  <a:tcPr marL="91440" marR="91440" marT="45720" marB="45720" anchor="ctr">
                    <a:solidFill>
                      <a:srgbClr val="6C2019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r>
                        <a:rPr sz="1650" b="1">
                          <a:solidFill>
                            <a:srgbClr val="FFF7E9"/>
                          </a:solidFill>
                          <a:latin typeface="Calibri"/>
                          <a:ea typeface="Calibri"/>
                          <a:cs typeface="Calibri"/>
                        </a:rPr>
                        <a:t>BraTS 2021 DEFINITION</a:t>
                      </a:r>
                    </a:p>
                  </a:txBody>
                  <a:tcPr marL="91440" marR="91440" marT="45720" marB="45720" anchor="ctr">
                    <a:solidFill>
                      <a:srgbClr val="6C2019"/>
                    </a:solidFill>
                  </a:tcPr>
                </a:tc>
              </a:tr>
              <a:tr h="464344">
                <a:tc>
                  <a:txBody>
                    <a:bodyPr lIns="114300" tIns="85725" rIns="95250" bIns="85725"/>
                    <a:lstStyle/>
                    <a:p>
                      <a:r>
                        <a:rPr sz="1800" b="1">
                          <a:solidFill>
                            <a:srgbClr val="286F65"/>
                          </a:solidFill>
                          <a:latin typeface="Calibri"/>
                          <a:ea typeface="Calibri"/>
                          <a:cs typeface="Calibri"/>
                        </a:rPr>
                        <a:t>WT · Whole tumour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r>
                        <a:rPr sz="1800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NCR + oedema + ET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</a:tr>
              <a:tr h="464344">
                <a:tc>
                  <a:txBody>
                    <a:bodyPr lIns="114300" tIns="85725" rIns="95250" bIns="85725"/>
                    <a:lstStyle/>
                    <a:p>
                      <a:r>
                        <a:rPr sz="1800" b="1">
                          <a:solidFill>
                            <a:srgbClr val="8B5218"/>
                          </a:solidFill>
                          <a:latin typeface="Calibri"/>
                          <a:ea typeface="Calibri"/>
                          <a:cs typeface="Calibri"/>
                        </a:rPr>
                        <a:t>TC · Tumour core</a:t>
                      </a:r>
                    </a:p>
                  </a:txBody>
                  <a:tcPr marL="91440" marR="91440" marT="45720" marB="45720" anchor="ctr">
                    <a:solidFill>
                      <a:srgbClr val="F8EBD8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r>
                        <a:rPr sz="1800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NCR + ET</a:t>
                      </a:r>
                    </a:p>
                  </a:txBody>
                  <a:tcPr marL="91440" marR="91440" marT="45720" marB="45720" anchor="ctr">
                    <a:solidFill>
                      <a:srgbClr val="F8EBD8"/>
                    </a:solidFill>
                  </a:tcPr>
                </a:tc>
              </a:tr>
              <a:tr h="464344">
                <a:tc>
                  <a:txBody>
                    <a:bodyPr lIns="114300" tIns="85725" rIns="95250" bIns="85725"/>
                    <a:lstStyle/>
                    <a:p>
                      <a:r>
                        <a:rPr sz="1800" b="1">
                          <a:solidFill>
                            <a:srgbClr val="A74235"/>
                          </a:solidFill>
                          <a:latin typeface="Calibri"/>
                          <a:ea typeface="Calibri"/>
                          <a:cs typeface="Calibri"/>
                        </a:rPr>
                        <a:t>ET · Enhancing tumour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  <a:tc>
                  <a:txBody>
                    <a:bodyPr lIns="114300" tIns="85725" rIns="95250" bIns="85725"/>
                    <a:lstStyle/>
                    <a:p>
                      <a:r>
                        <a:rPr sz="1800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ET only · label 4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8" name="">
            <a:extLst>
              <a:ext uri="{FF2B5EF4-FFF2-40B4-BE49-F238E27FC236}">
                <ns3:creationId id="{A6A805D0-3FF2-4A97-B729-DD73EC708E1B}"/>
              </a:ext>
            </a:extLst>
          </p:cNvPr>
          <p:cNvGraphicFramePr/>
          <p:nvPr/>
        </p:nvGraphicFramePr>
        <p:xfrm>
          <a:off x="11925300" y="5181600"/>
          <a:ext cx="5543550" cy="2809875"/>
        </p:xfrm>
        <a:graphic>
          <a:graphicData uri="http://schemas.openxmlformats.org/drawingml/2006/table">
            <a:tbl>
              <a:tblPr/>
              <a:tblGrid>
                <a:gridCol w="1476375"/>
                <a:gridCol w="4067175"/>
              </a:tblGrid>
              <a:tr h="702469">
                <a:tc>
                  <a:txBody>
                    <a:bodyPr lIns="114300" tIns="57150" rIns="95250" bIns="57150"/>
                    <a:lstStyle/>
                    <a:p>
                      <a:r>
                        <a:rPr sz="1500" b="1">
                          <a:solidFill>
                            <a:srgbClr val="FFF7E9"/>
                          </a:solidFill>
                          <a:latin typeface="Calibri"/>
                          <a:ea typeface="Calibri"/>
                          <a:cs typeface="Calibri"/>
                        </a:rPr>
                        <a:t>CAPABILITY</a:t>
                      </a:r>
                    </a:p>
                  </a:txBody>
                  <a:tcPr marL="91440" marR="91440" marT="45720" marB="45720" anchor="ctr">
                    <a:solidFill>
                      <a:srgbClr val="6C2019"/>
                    </a:solidFill>
                  </a:tcPr>
                </a:tc>
                <a:tc>
                  <a:txBody>
                    <a:bodyPr lIns="114300" tIns="57150" rIns="95250" bIns="57150"/>
                    <a:lstStyle/>
                    <a:p>
                      <a:r>
                        <a:rPr sz="1500" b="1">
                          <a:solidFill>
                            <a:srgbClr val="FFF7E9"/>
                          </a:solidFill>
                          <a:latin typeface="Calibri"/>
                          <a:ea typeface="Calibri"/>
                          <a:cs typeface="Calibri"/>
                        </a:rPr>
                        <a:t>WHAT THE USER CAN INSPECT</a:t>
                      </a:r>
                    </a:p>
                  </a:txBody>
                  <a:tcPr marL="91440" marR="91440" marT="45720" marB="45720" anchor="ctr">
                    <a:solidFill>
                      <a:srgbClr val="6C2019"/>
                    </a:solidFill>
                  </a:tcPr>
                </a:tc>
              </a:tr>
              <a:tr h="702469">
                <a:tc>
                  <a:txBody>
                    <a:bodyPr lIns="114300" tIns="57150" rIns="95250" bIns="57150"/>
                    <a:lstStyle/>
                    <a:p>
                      <a:r>
                        <a:rPr sz="1725" b="1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Explore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  <a:tc>
                  <a:txBody>
                    <a:bodyPr lIns="114300" tIns="57150" rIns="95250" bIns="57150"/>
                    <a:lstStyle/>
                    <a:p>
                      <a:r>
                        <a:rPr sz="1725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3D layers + linked MPR; shared voxel / mm crosshair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</a:tr>
              <a:tr h="702469">
                <a:tc>
                  <a:txBody>
                    <a:bodyPr lIns="114300" tIns="57150" rIns="95250" bIns="57150"/>
                    <a:lstStyle/>
                    <a:p>
                      <a:r>
                        <a:rPr sz="1725" b="1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Quantify</a:t>
                      </a:r>
                    </a:p>
                  </a:txBody>
                  <a:tcPr marL="91440" marR="91440" marT="45720" marB="45720" anchor="ctr">
                    <a:solidFill>
                      <a:srgbClr val="F8EBD8"/>
                    </a:solidFill>
                  </a:tcPr>
                </a:tc>
                <a:tc>
                  <a:txBody>
                    <a:bodyPr lIns="114300" tIns="57150" rIns="95250" bIns="57150"/>
                    <a:lstStyle/>
                    <a:p>
                      <a:r>
                        <a:rPr sz="1725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Volume, diameter, voxel-face area; expert comparison</a:t>
                      </a:r>
                    </a:p>
                  </a:txBody>
                  <a:tcPr marL="91440" marR="91440" marT="45720" marB="45720" anchor="ctr">
                    <a:solidFill>
                      <a:srgbClr val="F8EBD8"/>
                    </a:solidFill>
                  </a:tcPr>
                </a:tc>
              </a:tr>
              <a:tr h="702469">
                <a:tc>
                  <a:txBody>
                    <a:bodyPr lIns="114300" tIns="57150" rIns="95250" bIns="57150"/>
                    <a:lstStyle/>
                    <a:p>
                      <a:r>
                        <a:rPr sz="1725" b="1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Audit trust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  <a:tc>
                  <a:txBody>
                    <a:bodyPr lIns="114300" tIns="57150" rIns="95250" bIns="57150"/>
                    <a:lstStyle/>
                    <a:p>
                      <a:r>
                        <a:rPr sz="1725" b="0">
                          <a:solidFill>
                            <a:srgbClr val="30190F"/>
                          </a:solidFill>
                          <a:latin typeface="Calibri"/>
                          <a:ea typeface="Calibri"/>
                          <a:cs typeface="Calibri"/>
                        </a:rPr>
                        <a:t>TTA disagreement, components, Quality Centre, provenance</a:t>
                      </a:r>
                    </a:p>
                  </a:txBody>
                  <a:tcPr marL="91440" marR="91440" marT="45720" marB="45720" anchor="ctr">
                    <a:solidFill>
                      <a:srgbClr val="FFF7E9"/>
                    </a:solidFill>
                  </a:tcPr>
                </a:tc>
              </a:tr>
            </a:tbl>
          </a:graphicData>
        </a:graphic>
      </p:graphicFrame>
      <p:sp>
        <p:nvSpPr>
          <p:cNvPr id="29" name="content-diagram-24">
            <a:extLst>
              <a:ext uri="{FF2B5EF4-FFF2-40B4-BE49-F238E27FC236}">
                <ns3:creationId id="{CF61CC44-296B-41BF-B665-4A97846F0751}"/>
              </a:ext>
            </a:extLst>
          </p:cNvPr>
          <p:cNvSpPr>
            <a:spLocks noGrp="1"/>
          </p:cNvSpPr>
          <p:nvPr/>
        </p:nvSpPr>
        <p:spPr>
          <a:xfrm>
            <a:off x="819150" y="8239125"/>
            <a:ext cx="3143250" cy="1028700"/>
          </a:xfrm>
          <a:prstGeom prst="rect">
            <a:avLst/>
          </a:prstGeom>
          <a:solidFill>
            <a:srgbClr val="FFF7E9"/>
          </a:solidFill>
          <a:ln w="9525">
            <a:solidFill>
              <a:srgbClr val="C9A778"/>
            </a:solidFill>
          </a:ln>
        </p:spPr>
      </p:sp>
      <p:sp>
        <p:nvSpPr>
          <p:cNvPr id="30" name="content-25">
            <a:extLst>
              <a:ext uri="{FF2B5EF4-FFF2-40B4-BE49-F238E27FC236}">
                <ns3:creationId id="{CF77420D-D6C7-4531-94B9-3DAD329C6A1E}"/>
              </a:ext>
            </a:extLst>
          </p:cNvPr>
          <p:cNvSpPr>
            <a:spLocks noGrp="1"/>
          </p:cNvSpPr>
          <p:nvPr/>
        </p:nvSpPr>
        <p:spPr>
          <a:xfrm>
            <a:off x="933450" y="8334375"/>
            <a:ext cx="29146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C2019"/>
                </a:solidFill>
                <a:latin typeface="Calibri"/>
                <a:ea typeface="Calibri"/>
                <a:cs typeface="Calibri"/>
              </a:rPr>
              <a:t>01 · UPLOAD</a:t>
            </a:r>
          </a:p>
        </p:txBody>
      </p:sp>
      <p:sp>
        <p:nvSpPr>
          <p:cNvPr id="31" name="content-26">
            <a:extLst>
              <a:ext uri="{FF2B5EF4-FFF2-40B4-BE49-F238E27FC236}">
                <ns3:creationId id="{42FF38DA-7C86-4967-A05F-2F7F2FF8180C}"/>
              </a:ext>
            </a:extLst>
          </p:cNvPr>
          <p:cNvSpPr>
            <a:spLocks noGrp="1"/>
          </p:cNvSpPr>
          <p:nvPr/>
        </p:nvSpPr>
        <p:spPr>
          <a:xfrm>
            <a:off x="933450" y="8677275"/>
            <a:ext cx="29146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7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0190F"/>
                </a:solidFill>
                <a:latin typeface="Calibri"/>
                <a:ea typeface="Calibri"/>
                <a:cs typeface="Calibri"/>
              </a:rPr>
              <a:t>4 NIfTI files + optional expert mask</a:t>
            </a:r>
          </a:p>
        </p:txBody>
      </p:sp>
      <p:sp>
        <p:nvSpPr>
          <p:cNvPr id="32" name="content-arrow-27">
            <a:extLst>
              <a:ext uri="{FF2B5EF4-FFF2-40B4-BE49-F238E27FC236}">
                <ns3:creationId id="{63E11624-19A2-41AB-AB0B-A5E834462651}"/>
              </a:ext>
            </a:extLst>
          </p:cNvPr>
          <p:cNvSpPr>
            <a:spLocks noGrp="1"/>
          </p:cNvSpPr>
          <p:nvPr/>
        </p:nvSpPr>
        <p:spPr>
          <a:xfrm>
            <a:off x="4010025" y="8667750"/>
            <a:ext cx="133350" cy="171450"/>
          </a:xfrm>
          <a:prstGeom prst="rightArrow">
            <a:avLst/>
          </a:prstGeom>
          <a:solidFill>
            <a:srgbClr val="A96D18"/>
          </a:solidFill>
          <a:ln w="0">
            <a:noFill/>
          </a:ln>
        </p:spPr>
      </p:sp>
      <p:sp>
        <p:nvSpPr>
          <p:cNvPr id="33" name="content-diagram-28">
            <a:extLst>
              <a:ext uri="{FF2B5EF4-FFF2-40B4-BE49-F238E27FC236}">
                <ns3:creationId id="{E9FE1FE5-1EF1-42A6-98BD-717778CD9A3B}"/>
              </a:ext>
            </a:extLst>
          </p:cNvPr>
          <p:cNvSpPr>
            <a:spLocks noGrp="1"/>
          </p:cNvSpPr>
          <p:nvPr/>
        </p:nvSpPr>
        <p:spPr>
          <a:xfrm>
            <a:off x="4191000" y="8239125"/>
            <a:ext cx="3143250" cy="1028700"/>
          </a:xfrm>
          <a:prstGeom prst="rect">
            <a:avLst/>
          </a:prstGeom>
          <a:solidFill>
            <a:srgbClr val="FFF7E9"/>
          </a:solidFill>
          <a:ln w="9525">
            <a:solidFill>
              <a:srgbClr val="C9A778"/>
            </a:solidFill>
          </a:ln>
        </p:spPr>
      </p:sp>
      <p:sp>
        <p:nvSpPr>
          <p:cNvPr id="34" name="content-29">
            <a:extLst>
              <a:ext uri="{FF2B5EF4-FFF2-40B4-BE49-F238E27FC236}">
                <ns3:creationId id="{4E4A2BF2-430B-4CE4-B234-DC7FB62C8059}"/>
              </a:ext>
            </a:extLst>
          </p:cNvPr>
          <p:cNvSpPr>
            <a:spLocks noGrp="1"/>
          </p:cNvSpPr>
          <p:nvPr/>
        </p:nvSpPr>
        <p:spPr>
          <a:xfrm>
            <a:off x="4305300" y="8334375"/>
            <a:ext cx="29146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C2019"/>
                </a:solidFill>
                <a:latin typeface="Calibri"/>
                <a:ea typeface="Calibri"/>
                <a:cs typeface="Calibri"/>
              </a:rPr>
              <a:t>02 · VALIDATE</a:t>
            </a:r>
          </a:p>
        </p:txBody>
      </p:sp>
      <p:sp>
        <p:nvSpPr>
          <p:cNvPr id="35" name="content-30">
            <a:extLst>
              <a:ext uri="{FF2B5EF4-FFF2-40B4-BE49-F238E27FC236}">
                <ns3:creationId id="{18609489-BC24-412D-A8F4-E0E8CA39E9ED}"/>
              </a:ext>
            </a:extLst>
          </p:cNvPr>
          <p:cNvSpPr>
            <a:spLocks noGrp="1"/>
          </p:cNvSpPr>
          <p:nvPr/>
        </p:nvSpPr>
        <p:spPr>
          <a:xfrm>
            <a:off x="4305300" y="8677275"/>
            <a:ext cx="29146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7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0190F"/>
                </a:solidFill>
                <a:latin typeface="Calibri"/>
                <a:ea typeface="Calibri"/>
                <a:cs typeface="Calibri"/>
              </a:rPr>
              <a:t>Reject corrupt, mismatched or implausible input</a:t>
            </a:r>
          </a:p>
        </p:txBody>
      </p:sp>
      <p:sp>
        <p:nvSpPr>
          <p:cNvPr id="36" name="content-arrow-31">
            <a:extLst>
              <a:ext uri="{FF2B5EF4-FFF2-40B4-BE49-F238E27FC236}">
                <ns3:creationId id="{50A920D1-89AE-4E12-B7AA-E558DBAED5CB}"/>
              </a:ext>
            </a:extLst>
          </p:cNvPr>
          <p:cNvSpPr>
            <a:spLocks noGrp="1"/>
          </p:cNvSpPr>
          <p:nvPr/>
        </p:nvSpPr>
        <p:spPr>
          <a:xfrm>
            <a:off x="7381875" y="8667750"/>
            <a:ext cx="133350" cy="171450"/>
          </a:xfrm>
          <a:prstGeom prst="rightArrow">
            <a:avLst/>
          </a:prstGeom>
          <a:solidFill>
            <a:srgbClr val="A96D18"/>
          </a:solidFill>
          <a:ln w="0">
            <a:noFill/>
          </a:ln>
        </p:spPr>
      </p:sp>
      <p:sp>
        <p:nvSpPr>
          <p:cNvPr id="37" name="content-diagram-32">
            <a:extLst>
              <a:ext uri="{FF2B5EF4-FFF2-40B4-BE49-F238E27FC236}">
                <ns3:creationId id="{2BB07285-ECF8-43BF-8B33-59C724050F2C}"/>
              </a:ext>
            </a:extLst>
          </p:cNvPr>
          <p:cNvSpPr>
            <a:spLocks noGrp="1"/>
          </p:cNvSpPr>
          <p:nvPr/>
        </p:nvSpPr>
        <p:spPr>
          <a:xfrm>
            <a:off x="7562850" y="8239125"/>
            <a:ext cx="3143250" cy="1028700"/>
          </a:xfrm>
          <a:prstGeom prst="rect">
            <a:avLst/>
          </a:prstGeom>
          <a:solidFill>
            <a:srgbClr val="FFF7E9"/>
          </a:solidFill>
          <a:ln w="9525">
            <a:solidFill>
              <a:srgbClr val="C9A778"/>
            </a:solidFill>
          </a:ln>
        </p:spPr>
      </p:sp>
      <p:sp>
        <p:nvSpPr>
          <p:cNvPr id="38" name="content-33">
            <a:extLst>
              <a:ext uri="{FF2B5EF4-FFF2-40B4-BE49-F238E27FC236}">
                <ns3:creationId id="{15DB1AC5-0DBD-43CC-B6B1-FE42F78CA371}"/>
              </a:ext>
            </a:extLst>
          </p:cNvPr>
          <p:cNvSpPr>
            <a:spLocks noGrp="1"/>
          </p:cNvSpPr>
          <p:nvPr/>
        </p:nvSpPr>
        <p:spPr>
          <a:xfrm>
            <a:off x="7677150" y="8334375"/>
            <a:ext cx="29146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C2019"/>
                </a:solidFill>
                <a:latin typeface="Calibri"/>
                <a:ea typeface="Calibri"/>
                <a:cs typeface="Calibri"/>
              </a:rPr>
              <a:t>03 · SEGMENT</a:t>
            </a:r>
          </a:p>
        </p:txBody>
      </p:sp>
      <p:sp>
        <p:nvSpPr>
          <p:cNvPr id="39" name="content-34">
            <a:extLst>
              <a:ext uri="{FF2B5EF4-FFF2-40B4-BE49-F238E27FC236}">
                <ns3:creationId id="{5B9E0863-BB97-468A-B566-B8F0F50572FA}"/>
              </a:ext>
            </a:extLst>
          </p:cNvPr>
          <p:cNvSpPr>
            <a:spLocks noGrp="1"/>
          </p:cNvSpPr>
          <p:nvPr/>
        </p:nvSpPr>
        <p:spPr>
          <a:xfrm>
            <a:off x="7677150" y="8677275"/>
            <a:ext cx="29146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7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0190F"/>
                </a:solidFill>
                <a:latin typeface="Calibri"/>
                <a:ea typeface="Calibri"/>
                <a:cs typeface="Calibri"/>
              </a:rPr>
              <a:t>Verified SegResNet + 2-pass flip-TTA</a:t>
            </a:r>
          </a:p>
        </p:txBody>
      </p:sp>
      <p:sp>
        <p:nvSpPr>
          <p:cNvPr id="40" name="content-arrow-35">
            <a:extLst>
              <a:ext uri="{FF2B5EF4-FFF2-40B4-BE49-F238E27FC236}">
                <ns3:creationId id="{33266486-DA5C-468B-8529-7D74A047E706}"/>
              </a:ext>
            </a:extLst>
          </p:cNvPr>
          <p:cNvSpPr>
            <a:spLocks noGrp="1"/>
          </p:cNvSpPr>
          <p:nvPr/>
        </p:nvSpPr>
        <p:spPr>
          <a:xfrm>
            <a:off x="10753725" y="8667750"/>
            <a:ext cx="133350" cy="171450"/>
          </a:xfrm>
          <a:prstGeom prst="rightArrow">
            <a:avLst/>
          </a:prstGeom>
          <a:solidFill>
            <a:srgbClr val="A96D18"/>
          </a:solidFill>
          <a:ln w="0">
            <a:noFill/>
          </a:ln>
        </p:spPr>
      </p:sp>
      <p:sp>
        <p:nvSpPr>
          <p:cNvPr id="41" name="content-diagram-36">
            <a:extLst>
              <a:ext uri="{FF2B5EF4-FFF2-40B4-BE49-F238E27FC236}">
                <ns3:creationId id="{1B13B5DB-675E-4001-9AE3-7218D6073827}"/>
              </a:ext>
            </a:extLst>
          </p:cNvPr>
          <p:cNvSpPr>
            <a:spLocks noGrp="1"/>
          </p:cNvSpPr>
          <p:nvPr/>
        </p:nvSpPr>
        <p:spPr>
          <a:xfrm>
            <a:off x="10934700" y="8239125"/>
            <a:ext cx="3143250" cy="1028700"/>
          </a:xfrm>
          <a:prstGeom prst="rect">
            <a:avLst/>
          </a:prstGeom>
          <a:solidFill>
            <a:srgbClr val="FFF7E9"/>
          </a:solidFill>
          <a:ln w="9525">
            <a:solidFill>
              <a:srgbClr val="C9A778"/>
            </a:solidFill>
          </a:ln>
        </p:spPr>
      </p:sp>
      <p:sp>
        <p:nvSpPr>
          <p:cNvPr id="42" name="content-37">
            <a:extLst>
              <a:ext uri="{FF2B5EF4-FFF2-40B4-BE49-F238E27FC236}">
                <ns3:creationId id="{4149B019-8602-483C-8A15-5CD5881F1A3E}"/>
              </a:ext>
            </a:extLst>
          </p:cNvPr>
          <p:cNvSpPr>
            <a:spLocks noGrp="1"/>
          </p:cNvSpPr>
          <p:nvPr/>
        </p:nvSpPr>
        <p:spPr>
          <a:xfrm>
            <a:off x="11049000" y="8334375"/>
            <a:ext cx="29146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C2019"/>
                </a:solidFill>
                <a:latin typeface="Calibri"/>
                <a:ea typeface="Calibri"/>
                <a:cs typeface="Calibri"/>
              </a:rPr>
              <a:t>04 · EXPLORE</a:t>
            </a:r>
          </a:p>
        </p:txBody>
      </p:sp>
      <p:sp>
        <p:nvSpPr>
          <p:cNvPr id="43" name="content-38">
            <a:extLst>
              <a:ext uri="{FF2B5EF4-FFF2-40B4-BE49-F238E27FC236}">
                <ns3:creationId id="{AD69726B-EC94-43BB-85C8-F6FC98F588C2}"/>
              </a:ext>
            </a:extLst>
          </p:cNvPr>
          <p:cNvSpPr>
            <a:spLocks noGrp="1"/>
          </p:cNvSpPr>
          <p:nvPr/>
        </p:nvSpPr>
        <p:spPr>
          <a:xfrm>
            <a:off x="11049000" y="8677275"/>
            <a:ext cx="29146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7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0190F"/>
                </a:solidFill>
                <a:latin typeface="Calibri"/>
                <a:ea typeface="Calibri"/>
                <a:cs typeface="Calibri"/>
              </a:rPr>
              <a:t>3D + linked MRI; voxel and mm position</a:t>
            </a:r>
          </a:p>
        </p:txBody>
      </p:sp>
      <p:sp>
        <p:nvSpPr>
          <p:cNvPr id="44" name="content-arrow-39">
            <a:extLst>
              <a:ext uri="{FF2B5EF4-FFF2-40B4-BE49-F238E27FC236}">
                <ns3:creationId id="{2CB4D153-E0B7-49D8-8686-9056A32EFB75}"/>
              </a:ext>
            </a:extLst>
          </p:cNvPr>
          <p:cNvSpPr>
            <a:spLocks noGrp="1"/>
          </p:cNvSpPr>
          <p:nvPr/>
        </p:nvSpPr>
        <p:spPr>
          <a:xfrm>
            <a:off x="14125575" y="8667750"/>
            <a:ext cx="133350" cy="171450"/>
          </a:xfrm>
          <a:prstGeom prst="rightArrow">
            <a:avLst/>
          </a:prstGeom>
          <a:solidFill>
            <a:srgbClr val="A96D18"/>
          </a:solidFill>
          <a:ln w="0">
            <a:noFill/>
          </a:ln>
        </p:spPr>
      </p:sp>
      <p:sp>
        <p:nvSpPr>
          <p:cNvPr id="45" name="content-diagram-40">
            <a:extLst>
              <a:ext uri="{FF2B5EF4-FFF2-40B4-BE49-F238E27FC236}">
                <ns3:creationId id="{5BC25884-5E6E-4534-B301-F1B5269CE9A5}"/>
              </a:ext>
            </a:extLst>
          </p:cNvPr>
          <p:cNvSpPr>
            <a:spLocks noGrp="1"/>
          </p:cNvSpPr>
          <p:nvPr/>
        </p:nvSpPr>
        <p:spPr>
          <a:xfrm>
            <a:off x="14306550" y="8239125"/>
            <a:ext cx="3143250" cy="1028700"/>
          </a:xfrm>
          <a:prstGeom prst="rect">
            <a:avLst/>
          </a:prstGeom>
          <a:solidFill>
            <a:srgbClr val="FFF7E9"/>
          </a:solidFill>
          <a:ln w="9525">
            <a:solidFill>
              <a:srgbClr val="C9A778"/>
            </a:solidFill>
          </a:ln>
        </p:spPr>
      </p:sp>
      <p:sp>
        <p:nvSpPr>
          <p:cNvPr id="46" name="content-41">
            <a:extLst>
              <a:ext uri="{FF2B5EF4-FFF2-40B4-BE49-F238E27FC236}">
                <ns3:creationId id="{14EF5651-8C4B-4FB5-8AEB-1AD5BEC44EAC}"/>
              </a:ext>
            </a:extLst>
          </p:cNvPr>
          <p:cNvSpPr>
            <a:spLocks noGrp="1"/>
          </p:cNvSpPr>
          <p:nvPr/>
        </p:nvSpPr>
        <p:spPr>
          <a:xfrm>
            <a:off x="14420850" y="8334375"/>
            <a:ext cx="29146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725" b="1">
                <a:solidFill>
                  <a:srgbClr val="6C2019"/>
                </a:solidFill>
                <a:latin typeface="Calibri"/>
                <a:ea typeface="Calibri"/>
                <a:cs typeface="Calibri"/>
              </a:defRPr>
            </a:pPr>
            <a:r>
              <a:rPr sz="1725" b="1">
                <a:solidFill>
                  <a:srgbClr val="6C2019"/>
                </a:solidFill>
                <a:latin typeface="Calibri"/>
                <a:ea typeface="Calibri"/>
                <a:cs typeface="Calibri"/>
              </a:rPr>
              <a:t>05 · REPORT</a:t>
            </a:r>
          </a:p>
        </p:txBody>
      </p:sp>
      <p:sp>
        <p:nvSpPr>
          <p:cNvPr id="47" name="content-42">
            <a:extLst>
              <a:ext uri="{FF2B5EF4-FFF2-40B4-BE49-F238E27FC236}">
                <ns3:creationId id="{42CECD23-D608-49CC-A915-6842F8D9CD42}"/>
              </a:ext>
            </a:extLst>
          </p:cNvPr>
          <p:cNvSpPr>
            <a:spLocks noGrp="1"/>
          </p:cNvSpPr>
          <p:nvPr/>
        </p:nvSpPr>
        <p:spPr>
          <a:xfrm>
            <a:off x="14420850" y="8677275"/>
            <a:ext cx="291465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75" b="0">
                <a:solidFill>
                  <a:srgbClr val="30190F"/>
                </a:solidFill>
                <a:latin typeface="Calibri"/>
                <a:ea typeface="Calibri"/>
                <a:cs typeface="Calibri"/>
              </a:defRPr>
            </a:pPr>
            <a:r>
              <a:rPr sz="1575" b="0">
                <a:solidFill>
                  <a:srgbClr val="30190F"/>
                </a:solidFill>
                <a:latin typeface="Calibri"/>
                <a:ea typeface="Calibri"/>
                <a:cs typeface="Calibri"/>
              </a:rPr>
              <a:t>Volumes, metrics and reproducible provenance</a:t>
            </a:r>
          </a:p>
        </p:txBody>
      </p:sp>
      <p:sp>
        <p:nvSpPr>
          <p:cNvPr id="48" name="content-43">
            <a:extLst>
              <a:ext uri="{FF2B5EF4-FFF2-40B4-BE49-F238E27FC236}">
                <ns3:creationId id="{02524D3F-C1FD-46BF-9A25-A470B2810A06}"/>
              </a:ext>
            </a:extLst>
          </p:cNvPr>
          <p:cNvSpPr>
            <a:spLocks noGrp="1"/>
          </p:cNvSpPr>
          <p:nvPr/>
        </p:nvSpPr>
        <p:spPr>
          <a:xfrm>
            <a:off x="819150" y="9553575"/>
            <a:ext cx="16649700" cy="219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238" b="0">
                <a:solidFill>
                  <a:srgbClr val="674C38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238" b="0">
                <a:solidFill>
                  <a:srgbClr val="674C38"/>
                </a:solidFill>
                <a:latin typeface="Calibri"/>
                <a:ea typeface="Calibri"/>
                <a:cs typeface="Calibri"/>
              </a:defRPr>
            </a:pPr>
            <a:r>
              <a:rPr sz="1238" b="0">
                <a:solidFill>
                  <a:srgbClr val="674C38"/>
                </a:solidFill>
                <a:latin typeface="Calibri"/>
                <a:ea typeface="Calibri"/>
                <a:cs typeface="Calibri"/>
              </a:rPr>
              <a:t>Research &amp; teaching only. Sources: DI-02; repository docs/FEATURES.md and viewer / review components, commit 077f0ad. WT/TC/ET are nested regions; illustration is schematic, not to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0770" y="0"/>
            <a:ext cx="18237835" cy="10287000"/>
          </a:xfrm>
          <a:custGeom>
            <a:avLst/>
            <a:gdLst/>
            <a:ahLst/>
            <a:cxnLst/>
            <a:rect l="l" t="t" r="r" b="b"/>
            <a:pathLst>
              <a:path w="18237835" h="10287000">
                <a:moveTo>
                  <a:pt x="0" y="10287000"/>
                </a:moveTo>
                <a:lnTo>
                  <a:pt x="18237229" y="10287000"/>
                </a:lnTo>
                <a:lnTo>
                  <a:pt x="18237229" y="0"/>
                </a:lnTo>
                <a:lnTo>
                  <a:pt x="0" y="0"/>
                </a:lnTo>
                <a:lnTo>
                  <a:pt x="0" y="10287000"/>
                </a:lnTo>
                <a:close/>
              </a:path>
            </a:pathLst>
          </a:custGeom>
          <a:solidFill>
            <a:srgbClr val="F4DF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635" cy="10287000"/>
            <a:chOff x="0" y="0"/>
            <a:chExt cx="18288635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9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9874483"/>
              <a:ext cx="18288000" cy="412750"/>
            </a:xfrm>
            <a:custGeom>
              <a:avLst/>
              <a:gdLst/>
              <a:ahLst/>
              <a:cxnLst/>
              <a:rect l="l" t="t" r="r" b="b"/>
              <a:pathLst>
                <a:path w="18288000" h="412750">
                  <a:moveTo>
                    <a:pt x="18287561" y="0"/>
                  </a:moveTo>
                  <a:lnTo>
                    <a:pt x="18287561" y="412522"/>
                  </a:lnTo>
                  <a:lnTo>
                    <a:pt x="0" y="412522"/>
                  </a:lnTo>
                  <a:lnTo>
                    <a:pt x="0" y="0"/>
                  </a:lnTo>
                  <a:lnTo>
                    <a:pt x="18287561" y="0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18287999" cy="9874483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18288000" cy="1524721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08007" y="9678594"/>
              <a:ext cx="1274490" cy="388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81516" y="123332"/>
              <a:ext cx="3648059" cy="1219198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842934" y="416997"/>
            <a:ext cx="6943725" cy="5238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27050">
              <a:lnSpc>
                <a:spcPct val="100000"/>
              </a:lnSpc>
              <a:spcBef>
                <a:spcPts val="125"/>
              </a:spcBef>
            </a:pPr>
            <a:r>
              <a:rPr spc="475" dirty="0">
                <a:solidFill>
                  <a:srgbClr val="FFFF00"/>
                </a:solidFill>
                <a:latin typeface="Baskerville Old Face" panose="02020602080505020303" pitchFamily="18" charset="0"/>
              </a:rPr>
              <a:t>TECHNICAL</a:t>
            </a:r>
            <a:r>
              <a:rPr spc="390" dirty="0">
                <a:solidFill>
                  <a:srgbClr val="FFFF00"/>
                </a:solidFill>
                <a:latin typeface="Baskerville Old Face" panose="02020602080505020303" pitchFamily="18" charset="0"/>
              </a:rPr>
              <a:t> </a:t>
            </a:r>
            <a:r>
              <a:rPr spc="455" dirty="0">
                <a:solidFill>
                  <a:srgbClr val="FFFF00"/>
                </a:solidFill>
                <a:latin typeface="Baskerville Old Face" panose="02020602080505020303" pitchFamily="18" charset="0"/>
              </a:rPr>
              <a:t>APPROACH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68448" y="9982613"/>
            <a:ext cx="1284605" cy="1955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60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defPPr>
          </a:lstStyle>
          <a:p>
            <a:pPr marL="12700">
              <a:lnSpc>
                <a:spcPts val="1540"/>
              </a:lnSpc>
              <a:buNone/>
              <a:defRPr sz="160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pPr>
            <a:r>
              <a:rPr sz="1600" b="1" spc="150">
                <a:solidFill>
                  <a:srgbClr val="FFF7E9"/>
                </a:solidFill>
                <a:latin typeface="Calibri"/>
                <a:ea typeface="Calibri"/>
                <a:cs typeface="Calibri"/>
              </a:rPr>
              <a:t>OUTLIERS</a:t>
            </a: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45242" y="9957955"/>
            <a:ext cx="396240" cy="2540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15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defPPr>
          </a:lstStyle>
          <a:p>
            <a:pPr marL="12700">
              <a:lnSpc>
                <a:spcPts val="2000"/>
              </a:lnSpc>
              <a:buNone/>
              <a:defRPr sz="215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pPr>
            <a:r>
              <a:rPr sz="2150" b="1" spc="340">
                <a:solidFill>
                  <a:srgbClr val="FFF7E9"/>
                </a:solidFill>
                <a:latin typeface="Calibri"/>
                <a:ea typeface="Calibri"/>
                <a:cs typeface="Calibri"/>
              </a:rPr>
              <a:t>02</a:t>
            </a:r>
            <a:endParaRPr sz="2150"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1700784"/>
            <a:ext cx="166695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6C2019"/>
                </a:solidFill>
                <a:latin typeface="Book Antiqua"/>
              </a:defRPr>
            </a:pPr>
            <a:r>
              <a:t>A Traceable, Clinically Guardrailed Pipeline from Multi-Modal MRI to 3D Digital Twin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31136"/>
            <a:ext cx="16669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A96D18"/>
                </a:solidFill>
                <a:latin typeface="Calibri"/>
              </a:defRPr>
            </a:pPr>
            <a:r>
              <a:t>Three-Tier Architecture: React 18 / Three.js Client  ·  FastAPI Gateway  ·  PyTorch / MONAI Deterministic Inference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606040"/>
            <a:ext cx="3035808" cy="123444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2697480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A96D18"/>
                </a:solidFill>
                <a:latin typeface="Calibri"/>
              </a:rPr>
              <a:t>01 · </a:t>
            </a:r>
            <a:r>
              <a:rPr sz="1450" b="1">
                <a:solidFill>
                  <a:srgbClr val="6C2019"/>
                </a:solidFill>
                <a:latin typeface="Calibri"/>
              </a:rPr>
              <a:t>INGESTION &amp; PREFLIGHT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DICOM series + 4 NIfTI (T1/T1Gd/T2/FLAIR)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Invertible affine |det(A)| &gt; 10⁻⁶; 1 GB cap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Finite sanity σ &gt; 10⁻⁴; null/NaN rejection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090672"/>
            <a:ext cx="228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A96D18"/>
                </a:solidFill>
                <a:latin typeface="Calibri"/>
              </a:defRPr>
            </a:pPr>
            <a:r>
              <a:t>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24528" y="2606040"/>
            <a:ext cx="3035808" cy="123444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34256" y="2697480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A96D18"/>
                </a:solidFill>
                <a:latin typeface="Calibri"/>
              </a:rPr>
              <a:t>02 · </a:t>
            </a:r>
            <a:r>
              <a:rPr sz="1450" b="1">
                <a:solidFill>
                  <a:srgbClr val="6C2019"/>
                </a:solidFill>
                <a:latin typeface="Calibri"/>
              </a:rPr>
              <a:t>CANONICAL RESAMPLING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Reoriented to standard RAS+ coordinates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1.0 mm isotropic resampling via TorchIO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Voxel-budget guard (500 mm max FOV)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3488" y="3090672"/>
            <a:ext cx="228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A96D18"/>
                </a:solidFill>
                <a:latin typeface="Calibri"/>
              </a:defRPr>
            </a:pPr>
            <a:r>
              <a:t>➔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26096" y="2606040"/>
            <a:ext cx="3035808" cy="123444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35823" y="2697480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A96D18"/>
                </a:solidFill>
                <a:latin typeface="Calibri"/>
              </a:rPr>
              <a:t>03 · </a:t>
            </a:r>
            <a:r>
              <a:rPr sz="1450" b="1">
                <a:solidFill>
                  <a:srgbClr val="6C2019"/>
                </a:solidFill>
                <a:latin typeface="Calibri"/>
              </a:rPr>
              <a:t>DETERMINISTIC SEGRESNET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MONAI BraTS-2018 bundle 0.5.4 (SHA-256)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128³ sliding-window (50% Gaussian overlap)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Enforced nesting: ET ⊆ TC ⊆ WT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35056" y="3090672"/>
            <a:ext cx="228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A96D18"/>
                </a:solidFill>
                <a:latin typeface="Calibri"/>
              </a:defRPr>
            </a:pPr>
            <a:r>
              <a:t>➔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27664" y="2606040"/>
            <a:ext cx="3035808" cy="123444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37392" y="2697480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A96D18"/>
                </a:solidFill>
                <a:latin typeface="Calibri"/>
              </a:rPr>
              <a:t>04 · </a:t>
            </a:r>
            <a:r>
              <a:rPr sz="1450" b="1">
                <a:solidFill>
                  <a:srgbClr val="6C2019"/>
                </a:solidFill>
                <a:latin typeface="Calibri"/>
              </a:rPr>
              <a:t>2-PASS FLIP-TTA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Original + Left-Right mirrored passes (K=2)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Symmetrical ensemble mean p̄ ≥ 0.5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Epistemic disagreement σ (r = 0.3463)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36624" y="3090672"/>
            <a:ext cx="228600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800" b="1">
                <a:solidFill>
                  <a:srgbClr val="A96D18"/>
                </a:solidFill>
                <a:latin typeface="Calibri"/>
              </a:defRPr>
            </a:pPr>
            <a:r>
              <a:t>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429232" y="2606040"/>
            <a:ext cx="3035808" cy="123444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538959" y="2697480"/>
            <a:ext cx="2816352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50" b="1">
                <a:solidFill>
                  <a:srgbClr val="A96D18"/>
                </a:solidFill>
                <a:latin typeface="Calibri"/>
              </a:rPr>
              <a:t>05 · </a:t>
            </a:r>
            <a:r>
              <a:rPr sz="1450" b="1">
                <a:solidFill>
                  <a:srgbClr val="6C2019"/>
                </a:solidFill>
                <a:latin typeface="Calibri"/>
              </a:rPr>
              <a:t>NATIVE 3D TWIN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Back-projection to native acquisition grid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Client SurfaceNets (&lt;0.5s mesh generation)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Synchronized 2D MPR (Ax/Sag/Cor) crosshair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4005072"/>
            <a:ext cx="81838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6C2019"/>
                </a:solidFill>
                <a:latin typeface="Calibri"/>
              </a:defRPr>
            </a:pPr>
            <a:r>
              <a:t>SYSTEM ARCHITECTURE &amp; REAL-TIME 3D STUDIO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2960" y="4343400"/>
            <a:ext cx="8183879" cy="361188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0120" y="4480560"/>
            <a:ext cx="3657600" cy="219456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4754880" y="4462272"/>
            <a:ext cx="411480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6C2019"/>
                </a:solidFill>
                <a:latin typeface="Calibri"/>
              </a:rPr>
              <a:t>Client-Side SurfaceNets: </a:t>
            </a:r>
            <a:r>
              <a:rPr sz="1200">
                <a:solidFill>
                  <a:srgbClr val="30190F"/>
                </a:solidFill>
                <a:latin typeface="Calibri"/>
              </a:rPr>
              <a:t>Generates smooth 3D tumor isosurfaces in &lt;0.5s directly in browser WebGL; zero server-side GPU video streaming.</a:t>
            </a:r>
          </a:p>
          <a:p>
            <a:r>
              <a:rPr sz="1300" b="1">
                <a:solidFill>
                  <a:srgbClr val="6C2019"/>
                </a:solidFill>
                <a:latin typeface="Calibri"/>
              </a:rPr>
              <a:t>Synchronized 2D MPR: </a:t>
            </a:r>
            <a:r>
              <a:rPr sz="1200">
                <a:solidFill>
                  <a:srgbClr val="30190F"/>
                </a:solidFill>
                <a:latin typeface="Calibri"/>
              </a:rPr>
              <a:t>Real-time crosshair synchronization across Axial, Sagittal, and Coronal planes with shared voxel &amp; physical mm coordinates.</a:t>
            </a:r>
          </a:p>
          <a:p>
            <a:r>
              <a:rPr sz="1300" b="1">
                <a:solidFill>
                  <a:srgbClr val="6C2019"/>
                </a:solidFill>
                <a:latin typeface="Calibri"/>
              </a:rPr>
              <a:t>Collapsible Slicer &amp; Cut Planes: </a:t>
            </a:r>
            <a:r>
              <a:rPr sz="1200">
                <a:solidFill>
                  <a:srgbClr val="30190F"/>
                </a:solidFill>
                <a:latin typeface="Calibri"/>
              </a:rPr>
              <a:t>Dynamic orthogonal X, Y, Z clipping planes with collapsible side panel for unobstructed interior tumor inspection.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6784848"/>
            <a:ext cx="7909560" cy="105156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E8DDC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78992" y="6839712"/>
            <a:ext cx="768096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250">
                <a:solidFill>
                  <a:srgbClr val="A96D18"/>
                </a:solidFill>
              </a:rPr>
              <a:t>Dual-Mode Distance Caliper: </a:t>
            </a:r>
            <a:r>
              <a:rPr sz="1200">
                <a:solidFill>
                  <a:srgbClr val="30190F"/>
                </a:solidFill>
              </a:rPr>
              <a:t>Sub-millimeter Euclidean measurement on slice planes calibrated to native DICOM pixel spacing: d = √[(Δx·δx)² + (Δy·δy)²].</a:t>
            </a:r>
          </a:p>
          <a:p>
            <a:r>
              <a:rPr b="1" sz="1250">
                <a:solidFill>
                  <a:srgbClr val="A96D18"/>
                </a:solidFill>
              </a:rPr>
              <a:t>Neurosurgical Window/Level: </a:t>
            </a:r>
            <a:r>
              <a:rPr sz="1200">
                <a:solidFill>
                  <a:srgbClr val="30190F"/>
                </a:solidFill>
              </a:rPr>
              <a:t>Instant presets (Brain: W80/L40, Subdural: W130/L75, Bone: W2500/L500) for contrast adjustment.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4005072"/>
            <a:ext cx="8183879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6C2019"/>
                </a:solidFill>
                <a:latin typeface="Calibri"/>
              </a:defRPr>
            </a:pPr>
            <a:r>
              <a:t>TRANSPARENT VOLUMETRICS &amp; CLINICAL FORMULA GLOSSARY</a:t>
            </a:r>
          </a:p>
        </p:txBody>
      </p:sp>
      <p:graphicFrame>
        <p:nvGraphicFramePr>
          <p:cNvPr id="36" name="Table 35"/>
          <p:cNvGraphicFramePr>
            <a:graphicFrameLocks noGrp="1"/>
          </p:cNvGraphicFramePr>
          <p:nvPr/>
        </p:nvGraphicFramePr>
        <p:xfrm>
          <a:off x="9281160" y="4343400"/>
          <a:ext cx="818388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468880"/>
                <a:gridCol w="3794760"/>
              </a:tblGrid>
              <a:tr h="6019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CLINICAL METRIC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DETERMINISTIC FORMULA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CLINICAL &amp; ARCHITECTURAL RATIONALE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Physical Volume (V)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V = N · (Δx · Δy · Δz) ÷ 1000 mL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Evaluated on native acquisition grid without interpolation volume bias; 1000 mm³ = 1 mL.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Max 3D Caliper (D_max)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D_max = max ||p_u - p_v||₂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Exact caliper distance over 3D convex hull vertices in world mm; eliminates bounding box error.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Boundary Area (S)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S = Σ N_faces,a · A_a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Exposed voxel face summation preserves true geometric fidelity across anisotropic slice thickness.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Epistemic Uncertainty (σ)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σ = √[ 1/K · Σ (p_k - p̄)² ]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Symmetrical mirror disagreement flags infiltrative tumor margins; correlates with error (r = 0.3463).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</a:tr>
              <a:tr h="60198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Spatial Error Decomposition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TP = P ∩ T, FP = P \ T, FN = T \ P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Unpacks scalar Dice into 3D error components; feeds 1-click Largest Miss navigation.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</a:tbl>
          </a:graphicData>
        </a:graphic>
      </p:graphicFrame>
      <p:sp>
        <p:nvSpPr>
          <p:cNvPr id="37" name="Rounded Rectangle 36"/>
          <p:cNvSpPr/>
          <p:nvPr/>
        </p:nvSpPr>
        <p:spPr>
          <a:xfrm>
            <a:off x="822960" y="8092440"/>
            <a:ext cx="3977639" cy="128016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8156448"/>
            <a:ext cx="3758183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6C2019"/>
                </a:solidFill>
                <a:latin typeface="Calibri"/>
              </a:defRPr>
            </a:pPr>
            <a:r>
              <a:t>DETERMINISTIC PROVENANCE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SHA-256 scan digests &amp; verified model weights hash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Git commit SHA + ISO-8601 timestamps in every export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Reproducible JSON &amp; PDF clinical audit packet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47488" y="8092440"/>
            <a:ext cx="3977639" cy="128016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57216" y="8156448"/>
            <a:ext cx="3758183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6C2019"/>
                </a:solidFill>
                <a:latin typeface="Calibri"/>
              </a:defRPr>
            </a:pPr>
            <a:r>
              <a:t>ZERO-STATE DATA PRIVACY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Local inference; uploads held in ephemeral RAM/scratch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Automatic background cleanup after 23 hours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Zero patient identifiable health information (PHI) stored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272015" y="8092440"/>
            <a:ext cx="3977639" cy="128016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81743" y="8156448"/>
            <a:ext cx="3758183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6C2019"/>
                </a:solidFill>
                <a:latin typeface="Calibri"/>
              </a:defRPr>
            </a:pPr>
            <a:r>
              <a:t>17/17 QUALITY CENTRE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17 automated pipeline tests pass before release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Single-job concurrency lock prevents worker starvation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Automatic fallback &amp; diagnostic error reporting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3496543" y="8092440"/>
            <a:ext cx="3977639" cy="128016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3606271" y="8156448"/>
            <a:ext cx="3758183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6C2019"/>
                </a:solidFill>
                <a:latin typeface="Calibri"/>
              </a:defRPr>
            </a:pPr>
            <a:r>
              <a:t>DICOM / PACS READINESS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Validates Patient Orientation (0020,0037) &amp; Series UID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Preserves physical slice spacing matrix &amp; thickness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• Architecture ready for bi-directional DICOM-SR push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9473184"/>
            <a:ext cx="166512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74C38"/>
                </a:solidFill>
                <a:latin typeface="Calibri"/>
              </a:defRPr>
            </a:pPr>
            <a:r>
              <a:t>Research &amp; teaching prototype only · Verified against BraTS 2018/2021 specifications · Sources: backend/server/main.py, neuroscope/regions.py, FormulaGlossaryModal.tsx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drawing/2014/main" xmlns:ns4="http://schemas.openxmlformats.org/drawingml/2006/chart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8288635" cy="10287000"/>
            <a:chOff x="0" y="0"/>
            <a:chExt cx="18288635" cy="10287000"/>
          </a:xfrm>
        </p:grpSpPr>
        <p:sp>
          <p:nvSpPr>
            <p:cNvPr id="3" name="object 3"/>
            <p:cNvSpPr/>
            <p:nvPr/>
          </p:nvSpPr>
          <p:spPr>
            <a:xfrm>
              <a:off x="57597" y="0"/>
              <a:ext cx="18230850" cy="10287000"/>
            </a:xfrm>
            <a:custGeom>
              <a:avLst/>
              <a:gdLst/>
              <a:ahLst/>
              <a:cxnLst/>
              <a:rect l="l" t="t" r="r" b="b"/>
              <a:pathLst>
                <a:path w="18230850" h="10287000">
                  <a:moveTo>
                    <a:pt x="0" y="10287000"/>
                  </a:moveTo>
                  <a:lnTo>
                    <a:pt x="18230402" y="10287000"/>
                  </a:lnTo>
                  <a:lnTo>
                    <a:pt x="18230402" y="0"/>
                  </a:lnTo>
                  <a:lnTo>
                    <a:pt x="0" y="0"/>
                  </a:lnTo>
                  <a:lnTo>
                    <a:pt x="0" y="10287000"/>
                  </a:lnTo>
                  <a:close/>
                </a:path>
              </a:pathLst>
            </a:custGeom>
            <a:solidFill>
              <a:srgbClr val="F4DFC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76" y="9892862"/>
              <a:ext cx="18281650" cy="394335"/>
            </a:xfrm>
            <a:custGeom>
              <a:avLst/>
              <a:gdLst/>
              <a:ahLst/>
              <a:cxnLst/>
              <a:rect l="l" t="t" r="r" b="b"/>
              <a:pathLst>
                <a:path w="18281650" h="394334">
                  <a:moveTo>
                    <a:pt x="18281232" y="394124"/>
                  </a:moveTo>
                  <a:lnTo>
                    <a:pt x="0" y="394124"/>
                  </a:lnTo>
                  <a:lnTo>
                    <a:pt x="0" y="0"/>
                  </a:lnTo>
                  <a:lnTo>
                    <a:pt x="18281232" y="0"/>
                  </a:lnTo>
                  <a:lnTo>
                    <a:pt x="18281232" y="394124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6" y="0"/>
              <a:ext cx="18281223" cy="98928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397"/>
              <a:ext cx="18288009" cy="15247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4797" y="9696991"/>
              <a:ext cx="1274467" cy="388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88282" y="141729"/>
              <a:ext cx="3648059" cy="1219198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842934" y="416997"/>
            <a:ext cx="6943725" cy="5238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715645">
              <a:lnSpc>
                <a:spcPct val="100000"/>
              </a:lnSpc>
              <a:spcBef>
                <a:spcPts val="125"/>
              </a:spcBef>
            </a:pPr>
            <a:r>
              <a:rPr spc="260" dirty="0">
                <a:solidFill>
                  <a:srgbClr val="FFFF00"/>
                </a:solidFill>
                <a:latin typeface="Baskerville Old Face" panose="02020602080505020303" pitchFamily="18" charset="0"/>
              </a:rPr>
              <a:t>IMPACT</a:t>
            </a:r>
            <a:r>
              <a:rPr spc="405" dirty="0">
                <a:solidFill>
                  <a:srgbClr val="FFFF00"/>
                </a:solidFill>
                <a:latin typeface="Baskerville Old Face" panose="02020602080505020303" pitchFamily="18" charset="0"/>
              </a:rPr>
              <a:t> </a:t>
            </a:r>
            <a:r>
              <a:rPr spc="375" dirty="0">
                <a:solidFill>
                  <a:srgbClr val="FFFF00"/>
                </a:solidFill>
                <a:latin typeface="Baskerville Old Face" panose="02020602080505020303" pitchFamily="18" charset="0"/>
              </a:rPr>
              <a:t>AND</a:t>
            </a:r>
            <a:r>
              <a:rPr spc="405" dirty="0">
                <a:solidFill>
                  <a:srgbClr val="FFFF00"/>
                </a:solidFill>
                <a:latin typeface="Baskerville Old Face" panose="02020602080505020303" pitchFamily="18" charset="0"/>
              </a:rPr>
              <a:t> </a:t>
            </a:r>
            <a:r>
              <a:rPr spc="425" dirty="0">
                <a:solidFill>
                  <a:srgbClr val="FFFF00"/>
                </a:solidFill>
                <a:latin typeface="Baskerville Old Face" panose="02020602080505020303" pitchFamily="18" charset="0"/>
              </a:rPr>
              <a:t>BENEFITS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975223" y="10001012"/>
            <a:ext cx="1284605" cy="19558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160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defPPr>
          </a:lstStyle>
          <a:p>
            <a:pPr marL="12700">
              <a:lnSpc>
                <a:spcPts val="1540"/>
              </a:lnSpc>
              <a:buNone/>
              <a:defRPr sz="160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pPr>
            <a:r>
              <a:rPr sz="1600" b="1" spc="150">
                <a:solidFill>
                  <a:srgbClr val="FFF7E9"/>
                </a:solidFill>
                <a:latin typeface="Calibri"/>
                <a:ea typeface="Calibri"/>
                <a:cs typeface="Calibri"/>
              </a:rPr>
              <a:t>OUTLIERS</a:t>
            </a:r>
            <a:endParaRPr sz="1600">
              <a:latin typeface="Calibri"/>
              <a:ea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7352018" y="9976350"/>
            <a:ext cx="396240" cy="2540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15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defPPr>
          </a:lstStyle>
          <a:p>
            <a:pPr marL="12700">
              <a:lnSpc>
                <a:spcPts val="2000"/>
              </a:lnSpc>
              <a:buNone/>
              <a:defRPr sz="215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pPr>
            <a:r>
              <a:rPr sz="2150" b="1" spc="340">
                <a:solidFill>
                  <a:srgbClr val="FFF7E9"/>
                </a:solidFill>
                <a:latin typeface="Calibri"/>
                <a:ea typeface="Calibri"/>
                <a:cs typeface="Calibri"/>
              </a:rPr>
              <a:t>03</a:t>
            </a:r>
            <a:endParaRPr sz="2150">
              <a:latin typeface="Calibri"/>
              <a:ea typeface="Calibri"/>
              <a:cs typeface="Calibr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1700784"/>
            <a:ext cx="166695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6C2019"/>
                </a:solidFill>
                <a:latin typeface="Book Antiqua"/>
              </a:defRPr>
            </a:pPr>
            <a:r>
              <a:t>Measured Verification, Explainable Trust &amp; Clinical Workflow Value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2231136"/>
            <a:ext cx="16669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A96D18"/>
                </a:solidFill>
                <a:latin typeface="Calibri"/>
              </a:defRPr>
            </a:pPr>
            <a:r>
              <a:t>Filling the Critical Gap Between Black-Box Commercial AI and Complex Academic Plugins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2606040"/>
            <a:ext cx="3895344" cy="128016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2715768"/>
            <a:ext cx="3621024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2D7D46"/>
                </a:solidFill>
                <a:latin typeface="Calibri"/>
              </a:defRPr>
            </a:pPr>
            <a:r>
              <a:t>17 / 17 PASS</a:t>
            </a:r>
          </a:p>
          <a:p>
            <a:pPr>
              <a:defRPr sz="1450" b="1">
                <a:solidFill>
                  <a:srgbClr val="6C2019"/>
                </a:solidFill>
                <a:latin typeface="Calibri"/>
              </a:defRPr>
            </a:pPr>
            <a:r>
              <a:t>Documented Pipeline Tests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100% regression suite covering phantoms, affine preservation, mirror invariance &amp; memory guards.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74920" y="2606040"/>
            <a:ext cx="3895344" cy="128016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2715768"/>
            <a:ext cx="3621024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C2019"/>
                </a:solidFill>
                <a:latin typeface="Calibri"/>
              </a:defRPr>
            </a:pPr>
            <a:r>
              <a:t>16.000 mL</a:t>
            </a:r>
          </a:p>
          <a:p>
            <a:pPr>
              <a:defRPr sz="1450" b="1">
                <a:solidFill>
                  <a:srgbClr val="6C2019"/>
                </a:solidFill>
                <a:latin typeface="Calibri"/>
              </a:defRPr>
            </a:pPr>
            <a:r>
              <a:t>Synthetic Sphere Calibration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Exact recovery of 30.23 mm synthetic sphere phantom; 0.000% volumetric deviation on acquisition grid.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26880" y="2606040"/>
            <a:ext cx="3895344" cy="128016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64040" y="2715768"/>
            <a:ext cx="3621024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A96D18"/>
                </a:solidFill>
                <a:latin typeface="Calibri"/>
              </a:defRPr>
            </a:pPr>
            <a:r>
              <a:t>r = 0.3463</a:t>
            </a:r>
          </a:p>
          <a:p>
            <a:pPr>
              <a:defRPr sz="1450" b="1">
                <a:solidFill>
                  <a:srgbClr val="6C2019"/>
                </a:solidFill>
                <a:latin typeface="Calibri"/>
              </a:defRPr>
            </a:pPr>
            <a:r>
              <a:t>Uncertainty Calibration (p &lt; 0.001)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Flip-TTA disagreement σ directly correlates with true voxel boundary error over 1.3M evaluated voxels.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578840" y="2606040"/>
            <a:ext cx="3895344" cy="128016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0" y="2715768"/>
            <a:ext cx="3621024" cy="1060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3600" b="1">
                <a:solidFill>
                  <a:srgbClr val="6C2019"/>
                </a:solidFill>
                <a:latin typeface="Calibri"/>
              </a:defRPr>
            </a:pPr>
            <a:r>
              <a:t>&lt; 90 Seconds</a:t>
            </a:r>
          </a:p>
          <a:p>
            <a:pPr>
              <a:defRPr sz="1450" b="1">
                <a:solidFill>
                  <a:srgbClr val="6C2019"/>
                </a:solidFill>
                <a:latin typeface="Calibri"/>
              </a:defRPr>
            </a:pPr>
            <a:r>
              <a:t>Rapid Comprehensive Evaluation</a:t>
            </a:r>
          </a:p>
          <a:p>
            <a:pPr>
              <a:defRPr sz="1150">
                <a:solidFill>
                  <a:srgbClr val="30190F"/>
                </a:solidFill>
                <a:latin typeface="Calibri"/>
              </a:defRPr>
            </a:pPr>
            <a:r>
              <a:t>Reduces manual multi-slice contouring from ~45 min to under 90s on commodity hardware.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041648"/>
            <a:ext cx="51663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6C2019"/>
                </a:solidFill>
                <a:latin typeface="Calibri"/>
              </a:defRPr>
            </a:pPr>
            <a:r>
              <a:t>PIPELINE VERIFICATION (17/17 PASS)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22960" y="4389120"/>
          <a:ext cx="51663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463040"/>
                <a:gridCol w="1737360"/>
              </a:tblGrid>
              <a:tr h="4800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CHECK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TARGET BOUND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MEASURED RESULT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Synthetic Sphere Volume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16.000 mL ±1.0%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16.000 mL (0.000%)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Repeat-Run Mask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Dice ≥ 0.9999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1.00000 (Exact)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LR Mirror Invariance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|ΔV| ≤ 2.0%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0.0% deviation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Anisotropic Voxel Stress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|ΔWT| ≤ 10.0%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2.1% – 5.4% (Pass)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Spatial Error Decomp.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TP ∪ FP ∪ FN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Verified Exact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Invalid / Cropped Inputs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Deterministic Reject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100% Rejected (Pass)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</a:tr>
              <a:tr h="4800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Resource Budget Guard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&lt; 500 mm FOV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Protected (Pass)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822960" y="8339327"/>
            <a:ext cx="5166360" cy="105156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8394192"/>
            <a:ext cx="4946904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300">
                <a:solidFill>
                  <a:srgbClr val="6C2019"/>
                </a:solidFill>
              </a:rPr>
              <a:t>Mathematical Determinism Guarantee:
</a:t>
            </a:r>
            <a:r>
              <a:rPr sz="1150">
                <a:solidFill>
                  <a:srgbClr val="30190F"/>
                </a:solidFill>
              </a:rPr>
              <a:t>Identical inputs produce bitwise identical segmentations, volumes, and metrics across runs. Zero stochastic drifting.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63640" y="4041648"/>
            <a:ext cx="55321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6C2019"/>
                </a:solidFill>
                <a:latin typeface="Calibri"/>
              </a:defRPr>
            </a:pPr>
            <a:r>
              <a:t>EXPLAINABLE SPATIAL ERROR DECOMPOSITION</a:t>
            </a:r>
          </a:p>
        </p:txBody>
      </p:sp>
      <p:pic>
        <p:nvPicPr>
          <p:cNvPr id="28" name="Picture 27" descr="image.jp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55080" y="4389120"/>
            <a:ext cx="5349240" cy="2468880"/>
          </a:xfrm>
          <a:prstGeom prst="rect">
            <a:avLst/>
          </a:prstGeom>
        </p:spPr>
      </p:pic>
      <p:sp>
        <p:nvSpPr>
          <p:cNvPr id="29" name="Rounded Rectangle 28"/>
          <p:cNvSpPr/>
          <p:nvPr/>
        </p:nvSpPr>
        <p:spPr>
          <a:xfrm>
            <a:off x="6263640" y="6967728"/>
            <a:ext cx="5532120" cy="242316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0" y="7040880"/>
            <a:ext cx="525780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250">
                <a:solidFill>
                  <a:srgbClr val="6C2019"/>
                </a:solidFill>
              </a:rPr>
              <a:t>Spatial Error Overlays: </a:t>
            </a:r>
            <a:r>
              <a:rPr sz="1150">
                <a:solidFill>
                  <a:srgbClr val="30190F"/>
                </a:solidFill>
              </a:rPr>
              <a:t>Unpacks scalar Dice into intuitive color-coded anatomical components: True Positive (Green), False Positive (Amber), and False Negative (Red).</a:t>
            </a:r>
          </a:p>
          <a:p>
            <a:r>
              <a:rPr b="1" sz="1250">
                <a:solidFill>
                  <a:srgbClr val="6C2019"/>
                </a:solidFill>
              </a:rPr>
              <a:t>Largest Miss 1-Click Jump: </a:t>
            </a:r>
            <a:r>
              <a:rPr sz="1150">
                <a:solidFill>
                  <a:srgbClr val="30190F"/>
                </a:solidFill>
              </a:rPr>
              <a:t>x_miss = centroid(argmax Vol(c ∈ T \ P)) flies 3D camera and MPR crosshairs directly to the primary segmentation discrepancy for instant review.</a:t>
            </a:r>
          </a:p>
          <a:p>
            <a:r>
              <a:rPr b="1" sz="1250">
                <a:solidFill>
                  <a:srgbClr val="6C2019"/>
                </a:solidFill>
              </a:rPr>
              <a:t>Visible Uncertainty Thresholding: </a:t>
            </a:r>
            <a:r>
              <a:rPr sz="1150">
                <a:solidFill>
                  <a:srgbClr val="30190F"/>
                </a:solidFill>
              </a:rPr>
              <a:t>Interactive slider filters voxels by disagreement index (σ &gt; 0.35), guiding clinicians where manual boundary verification is required.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070080" y="4041648"/>
            <a:ext cx="539496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6C2019"/>
                </a:solidFill>
                <a:latin typeface="Calibri"/>
              </a:defRPr>
            </a:pPr>
            <a:r>
              <a:t>CLINICAL WORKFLOW VALUE MATRIX</a:t>
            </a:r>
          </a:p>
        </p:txBody>
      </p:sp>
      <p:graphicFrame>
        <p:nvGraphicFramePr>
          <p:cNvPr id="32" name="Table 31"/>
          <p:cNvGraphicFramePr>
            <a:graphicFrameLocks noGrp="1"/>
          </p:cNvGraphicFramePr>
          <p:nvPr/>
        </p:nvGraphicFramePr>
        <p:xfrm>
          <a:off x="12070080" y="4389120"/>
          <a:ext cx="539496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91640"/>
                <a:gridCol w="2331720"/>
              </a:tblGrid>
              <a:tr h="5181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COMMERCIAL AI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NEUROSCOPE 3D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Auditability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Opaque confidence %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Full math glossary + voxel provenance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Error Review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Binary mask only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3D TP/FP/FN + 1-click miss jump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Deployment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Heavy desktop install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Zero-install browser twin in &lt;2s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Uncertainty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Overconfident softmax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Calibrated Flip-TTA σ (r = 0.3463)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Formulas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Black-box proprietary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Transparent native-grid equations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</a:tbl>
          </a:graphicData>
        </a:graphic>
      </p:graphicFrame>
      <p:sp>
        <p:nvSpPr>
          <p:cNvPr id="33" name="Rounded Rectangle 32"/>
          <p:cNvSpPr/>
          <p:nvPr/>
        </p:nvSpPr>
        <p:spPr>
          <a:xfrm>
            <a:off x="12070080" y="7607808"/>
            <a:ext cx="5394960" cy="178308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2207240" y="7680960"/>
            <a:ext cx="5120640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b="1" sz="1250">
                <a:solidFill>
                  <a:srgbClr val="A96D18"/>
                </a:solidFill>
              </a:rPr>
              <a:t>Trainee Education: </a:t>
            </a:r>
            <a:r>
              <a:rPr sz="1150">
                <a:solidFill>
                  <a:srgbClr val="30190F"/>
                </a:solidFill>
              </a:rPr>
              <a:t>Reconstructs complex infiltrative 3D pathology instantly, resolving anatomical orientation ambiguity without mental scrolling fatigue.</a:t>
            </a:r>
          </a:p>
          <a:p>
            <a:r>
              <a:rPr b="1" sz="1250">
                <a:solidFill>
                  <a:srgbClr val="A96D18"/>
                </a:solidFill>
              </a:rPr>
              <a:t>Surgical Pre-Planning: </a:t>
            </a:r>
            <a:r>
              <a:rPr sz="1150">
                <a:solidFill>
                  <a:srgbClr val="30190F"/>
                </a:solidFill>
              </a:rPr>
              <a:t>Sub-millimeter Euclidean caliper measurements to skull base and eloquent boundaries; dynamic cut planes expose deep margins.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9473184"/>
            <a:ext cx="166512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74C38"/>
                </a:solidFill>
                <a:latin typeface="Calibri"/>
              </a:defRPr>
            </a:pPr>
            <a:r>
              <a:t>Research &amp; teaching only · Verification data from docs/VERIFICATION.md, test_pipeline_17_judge.py, and real_sample_eval.json · Not for clinical diagnosis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solidFill>
            <a:srgbClr val="F4DFC6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0" y="0"/>
            <a:ext cx="18288635" cy="10287000"/>
            <a:chOff x="0" y="0"/>
            <a:chExt cx="18288635" cy="102870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8000" cy="10287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6776" y="9892862"/>
              <a:ext cx="18281650" cy="394335"/>
            </a:xfrm>
            <a:custGeom>
              <a:avLst/>
              <a:gdLst/>
              <a:ahLst/>
              <a:cxnLst/>
              <a:rect l="l" t="t" r="r" b="b"/>
              <a:pathLst>
                <a:path w="18281650" h="394334">
                  <a:moveTo>
                    <a:pt x="18281232" y="394124"/>
                  </a:moveTo>
                  <a:lnTo>
                    <a:pt x="0" y="394124"/>
                  </a:lnTo>
                  <a:lnTo>
                    <a:pt x="0" y="0"/>
                  </a:lnTo>
                  <a:lnTo>
                    <a:pt x="18281232" y="0"/>
                  </a:lnTo>
                  <a:lnTo>
                    <a:pt x="18281232" y="394124"/>
                  </a:lnTo>
                  <a:close/>
                </a:path>
              </a:pathLst>
            </a:custGeom>
            <a:solidFill>
              <a:srgbClr val="37170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76" y="0"/>
              <a:ext cx="18281223" cy="989286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18397"/>
              <a:ext cx="18288009" cy="1524733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14797" y="9696991"/>
              <a:ext cx="1274467" cy="38861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4088282" y="141729"/>
              <a:ext cx="3648059" cy="1219198"/>
            </a:xfrm>
            <a:prstGeom prst="rect">
              <a:avLst/>
            </a:prstGeom>
          </p:spPr>
        </p:pic>
      </p:grp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4842934" y="416997"/>
            <a:ext cx="8263466" cy="523861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defRPr>
                <a:solidFill>
                  <a:srgbClr val="FFFF00"/>
                </a:solidFill>
                <a:latin typeface="Baskerville Old Face"/>
              </a:defRPr>
            </a:pPr>
            <a:r>
              <a:t>FUTURE SCOPE &amp; CHALLENGES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7352018" y="9976350"/>
            <a:ext cx="396240" cy="254000"/>
          </a:xfrm>
          <a:prstGeom prst="rect">
            <a:avLst/>
          </a:prstGeom>
        </p:spPr>
        <p:txBody>
          <a:bodyPr vert="horz" wrap="square" lIns="0" tIns="0" rIns="0" bIns="0">
            <a:spAutoFit/>
          </a:bodyPr>
          <a:lstStyle>
            <a:defPPr>
              <a:defRPr sz="215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defPPr>
          </a:lstStyle>
          <a:p>
            <a:pPr marL="12700">
              <a:lnSpc>
                <a:spcPts val="2000"/>
              </a:lnSpc>
              <a:buNone/>
              <a:defRPr sz="2150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pPr>
            <a:r>
              <a:rPr sz="2150" b="1" spc="340">
                <a:solidFill>
                  <a:srgbClr val="FFF7E9"/>
                </a:solidFill>
                <a:latin typeface="Calibri"/>
                <a:ea typeface="Calibri"/>
                <a:cs typeface="Calibri"/>
              </a:rPr>
              <a:t>04</a:t>
            </a:r>
            <a:endParaRPr sz="2150">
              <a:latin typeface="Calibri"/>
              <a:ea typeface="Calibri"/>
              <a:cs typeface="Calibri"/>
            </a:endParaRPr>
          </a:p>
        </p:txBody>
      </p:sp>
      <p:sp>
        <p:nvSpPr>
          <p:cNvPr id="38" name="content-151">
            <a:extLst>
              <a:ext uri="{FF2B5EF4-FFF2-40B4-BE49-F238E27FC236}">
                <ns3:creationId id="{EB4347BE-85AB-4397-852D-3358BA79D859}"/>
              </a:ext>
            </a:extLst>
          </p:cNvPr>
          <p:cNvSpPr>
            <a:spLocks noGrp="1"/>
          </p:cNvSpPr>
          <p:nvPr/>
        </p:nvSpPr>
        <p:spPr>
          <a:xfrm>
            <a:off x="971550" y="9982200"/>
            <a:ext cx="285750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575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defPPr>
          </a:lstStyle>
          <a:p>
            <a:pPr algn="l">
              <a:defRPr sz="1575" b="1">
                <a:solidFill>
                  <a:srgbClr val="FFF7E9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FFF7E9"/>
                </a:solidFill>
                <a:latin typeface="Calibri"/>
                <a:ea typeface="Calibri"/>
                <a:cs typeface="Calibri"/>
              </a:rPr>
              <a:t>OUTLIERS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1700784"/>
            <a:ext cx="16669512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6C2019"/>
                </a:solidFill>
                <a:latin typeface="Book Antiqua"/>
              </a:defRPr>
            </a:pPr>
            <a:r>
              <a:t>Strategic Translation Roadmap, Technical Challenges &amp; Enterprise Scalability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2231136"/>
            <a:ext cx="166695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50" b="1">
                <a:solidFill>
                  <a:srgbClr val="A96D18"/>
                </a:solidFill>
                <a:latin typeface="Calibri"/>
              </a:defRPr>
            </a:pPr>
            <a:r>
              <a:t>From a Verified Research Prototype Toward Multi-Institutional Clinical Workflow Integration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260604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6C2019"/>
                </a:solidFill>
                <a:latin typeface="Calibri"/>
              </a:defRPr>
            </a:pPr>
            <a:r>
              <a:t>KEY CHALLENGES &amp; SAFEGUARDS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22960" y="2971800"/>
            <a:ext cx="5257800" cy="205740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0120" y="3081528"/>
            <a:ext cx="4983480" cy="1837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6C2019"/>
                </a:solidFill>
                <a:latin typeface="Calibri"/>
              </a:defRPr>
            </a:pPr>
            <a:r>
              <a:t>Domain Shift &amp; Scanner Heterogeneity</a:t>
            </a:r>
          </a:p>
          <a:p>
            <a:r>
              <a:rPr b="1" sz="1150">
                <a:solidFill>
                  <a:srgbClr val="A96D18"/>
                </a:solidFill>
              </a:rPr>
              <a:t>Challenge: </a:t>
            </a:r>
            <a:r>
              <a:rPr sz="1100">
                <a:solidFill>
                  <a:srgbClr val="30190F"/>
                </a:solidFill>
              </a:rPr>
              <a:t>Variations across 1.5T vs 3.0T MRI, multi-vendor acquisitions (Siemens, GE, Philips), and slice thicknesses (1–5 mm) degrade out-of-distribution accuracy.</a:t>
            </a:r>
          </a:p>
          <a:p>
            <a:r>
              <a:rPr b="1" sz="1100">
                <a:solidFill>
                  <a:srgbClr val="286F65"/>
                </a:solidFill>
              </a:rPr>
              <a:t>Production Guard: Nyúl adaptive intensity histogram matching, automated N4ITK bias-field correction, and multi-center cross-validation on TCIA datasets.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22960" y="5166360"/>
            <a:ext cx="5257800" cy="205740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5276088"/>
            <a:ext cx="4983480" cy="1837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6C2019"/>
                </a:solidFill>
                <a:latin typeface="Calibri"/>
              </a:defRPr>
            </a:pPr>
            <a:r>
              <a:t>Cloud Latency &amp; GPU Acceleration</a:t>
            </a:r>
          </a:p>
          <a:p>
            <a:r>
              <a:rPr b="1" sz="1150">
                <a:solidFill>
                  <a:srgbClr val="A96D18"/>
                </a:solidFill>
              </a:rPr>
              <a:t>Challenge: </a:t>
            </a:r>
            <a:r>
              <a:rPr sz="1100">
                <a:solidFill>
                  <a:srgbClr val="30190F"/>
                </a:solidFill>
              </a:rPr>
              <a:t>CPU inference currently requires ~84s per 4-sequence study; real-time surgical re-evaluation demands sub-15s response.</a:t>
            </a:r>
          </a:p>
          <a:p>
            <a:r>
              <a:rPr b="1" sz="1100">
                <a:solidFill>
                  <a:srgbClr val="286F65"/>
                </a:solidFill>
              </a:rPr>
              <a:t>Production Guard: TensorRT FP16 quantization, CUDA graph compilation on cloud NVIDIA T4/A10G GPUs, and asynchronous Celery/Redis queues with WebSocket telemetry.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60" y="7360920"/>
            <a:ext cx="5257800" cy="205740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60120" y="7470648"/>
            <a:ext cx="4983480" cy="1837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6C2019"/>
                </a:solidFill>
                <a:latin typeface="Calibri"/>
              </a:defRPr>
            </a:pPr>
            <a:r>
              <a:t>Epistemic Uncertainty Calibration</a:t>
            </a:r>
          </a:p>
          <a:p>
            <a:r>
              <a:rPr b="1" sz="1150">
                <a:solidFill>
                  <a:srgbClr val="A96D18"/>
                </a:solidFill>
              </a:rPr>
              <a:t>Challenge: </a:t>
            </a:r>
            <a:r>
              <a:rPr sz="1100">
                <a:solidFill>
                  <a:srgbClr val="30190F"/>
                </a:solidFill>
              </a:rPr>
              <a:t>Flip-TTA standard deviation (σ) measures bilateral model disagreement, not true frequentist Bayesian error probability.</a:t>
            </a:r>
          </a:p>
          <a:p>
            <a:r>
              <a:rPr b="1" sz="1100">
                <a:solidFill>
                  <a:srgbClr val="286F65"/>
                </a:solidFill>
              </a:rPr>
              <a:t>Production Guard: Display empirical calibration curve (r = 0.3463) alongside confidence intervals to prevent clinical overreliance on low-σ boundaries.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19672" y="260604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6C2019"/>
                </a:solidFill>
                <a:latin typeface="Calibri"/>
              </a:defRPr>
            </a:pPr>
            <a:r>
              <a:t>PHASED DEVELOPMENT ROADMAP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19672" y="2971800"/>
            <a:ext cx="5257800" cy="151790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56832" y="3063240"/>
            <a:ext cx="498348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6C2019"/>
                </a:solidFill>
                <a:latin typeface="Calibri"/>
              </a:rPr>
              <a:t>Phase 1 · Multi-Model Ensembling (Q1–Q2)</a:t>
            </a:r>
          </a:p>
          <a:p>
            <a:r>
              <a:rPr sz="1100">
                <a:solidFill>
                  <a:srgbClr val="30190F"/>
                </a:solidFill>
                <a:latin typeface="Calibri"/>
              </a:rPr>
              <a:t>Integrate nnU-Net self-configuring framework and Swin UNETR vision transformer alongside SegResNet; compute multi-architecture consensus voting &amp; boundary entropy maps.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519672" y="4626864"/>
            <a:ext cx="5257800" cy="151790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656832" y="4718303"/>
            <a:ext cx="498348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6C2019"/>
                </a:solidFill>
                <a:latin typeface="Calibri"/>
              </a:rPr>
              <a:t>Phase 2 · Enterprise PACS &amp; DICOM-SR (Q2–Q3)</a:t>
            </a:r>
          </a:p>
          <a:p>
            <a:r>
              <a:rPr sz="1100">
                <a:solidFill>
                  <a:srgbClr val="30190F"/>
                </a:solidFill>
                <a:latin typeface="Calibri"/>
              </a:rPr>
              <a:t>Bi-directional DICOMweb (WADO-RS / STOW-RS) connectivity; automated export of DICOM-SR (Structured Reports) and DICOM-SEG objects into hospital enterprise archives.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519672" y="6281927"/>
            <a:ext cx="5257800" cy="151790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656832" y="6373367"/>
            <a:ext cx="498348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6C2019"/>
                </a:solidFill>
                <a:latin typeface="Calibri"/>
              </a:rPr>
              <a:t>Phase 3 · Longitudinal Lesion &amp; RECIST (Q3–Q4)</a:t>
            </a:r>
          </a:p>
          <a:p>
            <a:r>
              <a:rPr sz="1100">
                <a:solidFill>
                  <a:srgbClr val="30190F"/>
                </a:solidFill>
                <a:latin typeface="Calibri"/>
              </a:rPr>
              <a:t>Multi-timepoint rigid/affine co-registration; automated volumetric delta tracking (ΔV_WT, ΔV_ET) adhering strictly to RANO/RECIST glioma response criteria.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519672" y="7936992"/>
            <a:ext cx="5257800" cy="151790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56832" y="8028431"/>
            <a:ext cx="4983480" cy="13350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300" b="1">
                <a:solidFill>
                  <a:srgbClr val="6C2019"/>
                </a:solidFill>
                <a:latin typeface="Calibri"/>
              </a:rPr>
              <a:t>Phase 4 · Atlas Registration &amp; Eloquence (Q4+)</a:t>
            </a:r>
          </a:p>
          <a:p>
            <a:r>
              <a:rPr sz="1100">
                <a:solidFill>
                  <a:srgbClr val="30190F"/>
                </a:solidFill>
                <a:latin typeface="Calibri"/>
              </a:rPr>
              <a:t>Automated MNI152 / Harvard-Oxford cortical atlas parcellation; quantitative caliper distance to critical functional structures (motor strip, Broca's, Wernicke's).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216384" y="2606040"/>
            <a:ext cx="5257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6C2019"/>
                </a:solidFill>
                <a:latin typeface="Calibri"/>
              </a:defRPr>
            </a:pPr>
            <a:r>
              <a:t>CLINICAL TRANSLATION &amp; ECOSYSTEM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2216384" y="2971800"/>
            <a:ext cx="5257800" cy="2423160"/>
          </a:xfrm>
          <a:prstGeom prst="roundRect">
            <a:avLst/>
          </a:prstGeom>
          <a:solidFill>
            <a:srgbClr val="FDFAF5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2353544" y="3063240"/>
            <a:ext cx="4983480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50" b="1">
                <a:solidFill>
                  <a:srgbClr val="6C2019"/>
                </a:solidFill>
                <a:latin typeface="Calibri"/>
              </a:defRPr>
            </a:pPr>
            <a:r>
              <a:t>Clinical Multi-Reader Study Protocol (MRMC)</a:t>
            </a:r>
          </a:p>
          <a:p>
            <a:r>
              <a:rPr b="1" sz="1150">
                <a:solidFill>
                  <a:srgbClr val="A96D18"/>
                </a:solidFill>
              </a:rPr>
              <a:t>Study Design: </a:t>
            </a:r>
            <a:r>
              <a:rPr sz="1100">
                <a:solidFill>
                  <a:srgbClr val="30190F"/>
                </a:solidFill>
              </a:rPr>
              <a:t>Multi-Reader Multi-Case (MRMC) protocol evaluating 5 board-certified neuroradiologists and 10 neurosurgery trainees across 40 glioma cases.</a:t>
            </a:r>
          </a:p>
          <a:p>
            <a:r>
              <a:rPr b="1" sz="1150">
                <a:solidFill>
                  <a:srgbClr val="A96D18"/>
                </a:solidFill>
              </a:rPr>
              <a:t>Primary Endpoints: </a:t>
            </a:r>
            <a:r>
              <a:rPr sz="1100">
                <a:solidFill>
                  <a:srgbClr val="30190F"/>
                </a:solidFill>
              </a:rPr>
              <a:t>Contouring time reduction (&gt;70% target reduction), inter-observer agreement (Dice increase &gt;0.15), and NASA-TLX cognitive workload score.</a:t>
            </a:r>
          </a:p>
          <a:p>
            <a:r>
              <a:rPr b="1" sz="1150">
                <a:solidFill>
                  <a:srgbClr val="A96D18"/>
                </a:solidFill>
              </a:rPr>
              <a:t>Human-in-the-Loop: </a:t>
            </a:r>
            <a:r>
              <a:rPr sz="1100">
                <a:solidFill>
                  <a:srgbClr val="30190F"/>
                </a:solidFill>
              </a:rPr>
              <a:t>Interactive smart brush &amp; 3D bezier contour refinement tools allowing clinicians to verify or modify AI boundaries in &lt;30s.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216384" y="5532120"/>
            <a:ext cx="5257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700" b="1">
                <a:solidFill>
                  <a:srgbClr val="6C2019"/>
                </a:solidFill>
                <a:latin typeface="Calibri"/>
              </a:defRPr>
            </a:pPr>
            <a:r>
              <a:t>8 WORKSPACE INTERFACES · ONE CONTEXT</a:t>
            </a: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12216384" y="5852160"/>
          <a:ext cx="52578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337560"/>
              </a:tblGrid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WORKFLOW DOMAIN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FFF7E9"/>
                          </a:solidFill>
                          <a:latin typeface="Calibri"/>
                        </a:defRPr>
                      </a:pPr>
                      <a:r>
                        <a:t>INTEGRATED WORKSPACES</a:t>
                      </a:r>
                    </a:p>
                  </a:txBody>
                  <a:tcPr marL="73152" marR="73152" marT="36576" marB="36576">
                    <a:solidFill>
                      <a:srgbClr val="6C201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Overview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Command Centre · Research Graph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Imaging / Review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3D Studio Viewer · Segmentation Review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Trust &amp; Evidence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Trust &amp; Explainability · Research Lab</a:t>
                      </a:r>
                    </a:p>
                  </a:txBody>
                  <a:tcPr marL="73152" marR="73152" marT="36576" marB="36576">
                    <a:solidFill>
                      <a:srgbClr val="FFF7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Education / Demo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30190F"/>
                          </a:solidFill>
                          <a:latin typeface="Calibri"/>
                        </a:defRPr>
                      </a:pPr>
                      <a:r>
                        <a:t>Patient Companion · NeuroLearn Academy</a:t>
                      </a:r>
                    </a:p>
                  </a:txBody>
                  <a:tcPr marL="73152" marR="73152" marT="36576" marB="36576">
                    <a:solidFill>
                      <a:srgbClr val="F8EBD8"/>
                    </a:solidFill>
                  </a:tcPr>
                </a:tc>
              </a:tr>
            </a:tbl>
          </a:graphicData>
        </a:graphic>
      </p:graphicFrame>
      <p:sp>
        <p:nvSpPr>
          <p:cNvPr id="62" name="Rounded Rectangle 61"/>
          <p:cNvSpPr/>
          <p:nvPr/>
        </p:nvSpPr>
        <p:spPr>
          <a:xfrm>
            <a:off x="12216384" y="8001000"/>
            <a:ext cx="5257800" cy="1371600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D8C3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2353544" y="8092440"/>
            <a:ext cx="498348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6C2019"/>
                </a:solidFill>
                <a:latin typeface="Calibri"/>
              </a:defRPr>
            </a:pPr>
            <a:r>
              <a:t>Deterministic Reproducibility Packet</a:t>
            </a:r>
          </a:p>
          <a:p>
            <a:pPr>
              <a:defRPr sz="1100">
                <a:solidFill>
                  <a:srgbClr val="30190F"/>
                </a:solidFill>
                <a:latin typeface="Calibri"/>
              </a:defRPr>
            </a:pPr>
            <a:r>
              <a:t>Every run produces an exportable audit archive containing SHA-256 scan hashes, orientation affines, model checkpoint IDs, git commit hashes, and native-grid NIfTI masks with zero stochastic drifting.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9473184"/>
            <a:ext cx="16651224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50">
                <a:solidFill>
                  <a:srgbClr val="674C38"/>
                </a:solidFill>
                <a:latin typeface="Calibri"/>
              </a:defRPr>
            </a:pPr>
            <a:r>
              <a:t>Research &amp; teaching prototype only · Future phases require institutional IRB clearance and clinical validation · Sources: docs/ROADMAP.md, docs/INTERACTIVE_PLATFORM_PLAN.md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41</Words>
  <Application>Microsoft Office PowerPoint</Application>
  <PresentationFormat>Custom</PresentationFormat>
  <Paragraphs>17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Baskerville Old Face</vt:lpstr>
      <vt:lpstr>Book Antiqua</vt:lpstr>
      <vt:lpstr>Calibri</vt:lpstr>
      <vt:lpstr>Century</vt:lpstr>
      <vt:lpstr>Office Theme</vt:lpstr>
      <vt:lpstr>PROJECT TITLE</vt:lpstr>
      <vt:lpstr>Idea / Solution / Prototype</vt:lpstr>
      <vt:lpstr>TECHNICAL APPROACH</vt:lpstr>
      <vt:lpstr>IMPACT AND BENEFITS</vt:lpstr>
      <vt:lpstr>FUTURE SCOPE &amp; CHALLANGES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TECHNICAL APPROACH</dc:title>
  <dc:creator>Mohit Mulik</dc:creator>
  <cp:keywords>DAHXFcyGuUM,BAFwTAgcYmo</cp:keywords>
  <cp:lastModifiedBy>Mohit Mulik</cp:lastModifiedBy>
  <cp:revision>1</cp:revision>
  <dcterms:created xsi:type="dcterms:W3CDTF">2026-10-15T21:49:39Z</dcterms:created>
  <dcterms:modified xsi:type="dcterms:W3CDTF">2026-10-15T21:53:27Z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2026-10-15T00:00:00Z</vt:filetime>
  </property>
  <property fmtid="{D5CDD505-2E9C-101B-9397-08002B2CF9AE}" pid="4" name="Creator">
    <vt:lpwstr>Canva</vt:lpwstr>
  </property>
  <property fmtid="{D5CDD505-2E9C-101B-9397-08002B2CF9AE}" pid="5" name="LastSaved">
    <vt:filetime>2026-10-15T00:00:00Z</vt:filetime>
  </property>
  <property fmtid="{D5CDD505-2E9C-101B-9397-08002B2CF9AE}" pid="6" name="Producer">
    <vt:lpwstr>iLovePDF</vt:lpwstr>
  </property>
</Properties>
</file>